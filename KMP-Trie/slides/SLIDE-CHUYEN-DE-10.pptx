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600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[HUỲNH PHÁT LỢI — khoảng 40 giây]
Kính chào thầy và các bạn. Nhóm em trình bày chuyên đề 10: xử lý chuỗi bằng KMP và Trie. Sản phẩm là một hệ thống nhỏ: người dùng gõ tiền tố, Trie đề xuất từ khóa; sau khi chọn, KMP tìm mọi vị trí của từ khóa trong văn bản. Bài nói đi từ bài toán và chứng minh, sang demo, kiểm thử, thực nghiệm rồi kết luận. Em xin bắt đầu bằng phần phân công.</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1</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[HUỲNH PHÁT LỢI — khoảng 35 giây]
Nhóm có ba thành viên và đây là trách nhiệm chính, không phải ba phần tách rời. Em phụ trách KMP, tích hợp và demo; Võ Phú Vinh phụ trách lý thuyết, chứng minh và biên tập báo cáo; Thanh Tú phụ trách Trie, kiểm thử và thực nghiệm. Cả ba cùng review mã lõi và số liệu để có thể trả lời chéo. Báo cáo cá nhân chỉ ghi phần đóng góp của người nộp; bảng này là nơi công bố đầy đủ phân công nhóm.</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2</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[HUỲNH PHÁT LỢI — khoảng 40 giây]
Hai bài toán đều liên quan đến chuỗi nhưng khác ở dữ liệu biết trước. Với tìm mẫu, ta tiền xử lý mẫu và dùng KMP. Với gợi ý, từ điển đã có sẵn nên ta tiền xử lý toàn bộ từ điển bằng Trie. Sự khác biệt này quyết định cấu trúc dữ liệu và cả độ phức tạp. Trong mã nguồn, hai module độc lập, không import lẫn nhau; chúng chỉ gặp nhau ở tầng ứng dụng.</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3</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[HUỲNH PHÁT LỢI — khoảng 45 giây]
Module A nhận văn bản T và mẫu P không rỗng, trả về tất cả vị trí khớp, kể cả các lần khớp chồng lấn. Module B nhận một từ điển và cung cấp insert, search, starts_with, autocomplete. Hợp đồng lỗi cũng được xác định: mẫu rỗng hoặc ký tự ngoài alphabet bị từ chối rõ ràng. Điểm cần nhớ là KMP đạt O(n+m), còn thao tác Trie phụ thuộc độ dài chuỗi chứ không phụ thuộc số từ. Sau đây Vinh trình bày phần chứng minh.</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4</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[VÕ PHÚ VINH — khoảng 50 giây]
Prefix function tại vị trí i là độ dài border dài nhất của tiền tố kết thúc ở i. Khi có mismatch sau j ký tự, ta không thử lại từ đầu mà chuyển j về π[j−1], tức border dài nhất vẫn có thể tiếp tục. Ví dụ trên slide cho thấy thông tin của các lần so khớp trước được giữ lại. Đây là lý do KMP tránh lặp lại phép so sánh mà naive thường thực hiện.</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5</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[VÕ PHÚ VINH — khoảng 50 giây]
Bất biến của vòng lặp là trước mỗi lần so sánh, P[0..j−1] khớp với hậu tố của phần văn bản đã đọc. Khi mismatch, π[j−1] cho biết border dài nhất còn hợp lệ nên chỉ j lùi, còn con trỏ văn bản không lùi. Khi hai ký tự bằng nhau, cả hai con trỏ tiến. Bất biến vừa chứng minh không bỏ sót kết quả, vừa giải thích trực tiếp vì sao mỗi ký tự văn bản không bị quét lại từ đầu.</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6</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[VÕ PHÚ VINH — khoảng 45 giây]
Sau khi tìm thấy một khớp đầy đủ, dòng j bằng π[m−1] là bắt buộc nếu muốn bắt các khớp chồng lấn. Với mẫu “aba” trong “ababa”, lần khớp đầu kết thúc nhưng hậu tố “a” cũng là tiền tố của mẫu, nên ta giữ trạng thái đó. Nếu đặt j về 0, kết quả ở vị trí 2 sẽ bị bỏ lỡ. Đây là một ca kiểm thử riêng trong dự án.</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7</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[VÕ PHÚ VINH — khoảng 50 giây]
Chặn tuyến tính dùng lập luận khấu hao. Mỗi lần so sánh thành công làm j tăng; mỗi vòng mismatch làm j giảm theo prefix function. Tổng số lần giảm không thể vượt tổng số lần tăng, nên tìm kiếm dùng không quá khoảng 2n phép so sánh. BUILD_LPS có lập luận tương tự với m. Vì vậy tổng là O(n+m), không phải chỉ là kết luận từ biểu đồ. Em chuyển sang Tú với Trie và kiểm thử.</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8</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[THANH TÚ — khoảng 50 giây]
Trie được mô tả bởi bốn bất biến: mỗi cạnh mang đúng một ký tự; đường từ gốc tạo thành một tiền tố; nút kết thúc đánh dấu đúng một từ đã chèn; và các từ chung tiền tố dùng chung đường đi. Insert duy trì các bất biến bằng cách chỉ tạo cạnh còn thiếu. Search đi đúng một đường nên chi phí là O(L), với L là độ dài từ, độc lập số lượng từ N.</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9</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[THANH TÚ — khoảng 45 giây]
Autocomplete trước hết đi đến nút của tiền tố trong O(|p|), sau đó DFS theo thứ tự ổn định và dừng ngay khi đủ k kết quả. Vì thế chi phí là O(|p|+V), trong đó V là số nút thật sự đã thăm, không phải toàn bộ cây. Tham số k âm bị từ chối nhất quán ở cả biến thể hash map và mảng; đây là trường hợp biên vừa được bổ sung vào bộ test.</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10</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[THANH TÚ — khoảng 65 giây]
Đây là điểm chuyển sang demo. Em sẽ chạy hai thao tác: gõ tiền tố để nhận tối đa k gợi ý, rồi chọn một gợi ý để KMP tìm mọi vị trí trong văn bản. Khi demo, xin chú ý ba điều: kết quả autocomplete dừng đúng k; KMP trả về cả vị trí overlapping; và đầu vào sai được báo lỗi thay vì làm hỏng cấu trúc. Nếu giao diện gặp sự cố, cùng luồng này có thể chạy bằng CLI với dữ liệu mẫu trong thư mục data/demo.</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11</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[THANH TÚ — khoảng 45 giây]
Bộ kiểm thử có 276 test tự động và 10 doctest. Ba nhóm chính gồm unit và biên, đối kháng, cùng ngẫu nhiên đối chiếu. KMP được so với cách tìm naive độc lập; Trie được so với tập hợp và lọc tuyến tính; Aho–Corasick được so với việc chạy KMP cho từng mẫu. Nhờ baseline độc lập, test không chỉ kiểm tra mã chạy được mà còn kiểm tra kết quả đúng.</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12</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[THANH TÚ — khoảng 45 giây]
Test đối kháng được chọn để tấn công giả định cụ thể. Chuỗi Fibonacci tạo dãy border dài, ép KMP nhiều lần lùi và kiểm tra chặn 2n. Cây “chổi” có nhiều từ chung tiền tố dài để kiểm tra early stop. Ký tự ngoài alphabet đặt ở cuối một từ dài kiểm tra insert thất bại nhưng không làm bẩn Trie. Seed cố định giúp tái tạo đúng các ca ngẫu nhiên.</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13</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[THANH TÚ — khoảng 45 giây]
E1 đo số phép so sánh thay vì chỉ đo thời gian. Trường hợp uniform gần đạt 2n, cụ thể khoảng 1,9999n, cho thấy chặn lý thuyết vừa đúng vừa gần chặt. Trên dữ liệu natural-like tổng hợp theo Zipf hoặc random với alphabet lớn, naive cũng gần tuyến tính nên KMP không luôn nhanh hơn nhiều. Kết quả này được giữ nguyên vì nó mô tả đúng điều kiện KMP tạo lợi thế.</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14</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[THANH TÚ — khoảng 40 giây]
Biểu đồ chuẩn hóa số phép so sánh theo n làm xu hướng rõ hơn số mili-giây. Đường KMP bị chặn quanh 2 và hầu như phẳng khi n tăng; naive tăng mạnh trên dữ liệu lặp. “Natural” ở đây là nhãn cho dữ liệu tổng hợp theo Zipf, không phải corpus tự nhiên thu thập từ bên ngoài. Việc ghi rõ nguồn dữ liệu tránh diễn giải quá mức kết quả.</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15</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[THANH TÚ — khoảng 50 giây]
E2 xác nhận khi độ dài mẫu tăng 1.024 lần, chi phí tìm kiếm KMP chuẩn hóa theo n gần như giữ nguyên. E3 tăng từ điển 500 lần nhưng search Trie vẫn chỉ duyệt khoảng 6 đến 10 nút, bằng độ dài từ. Với autocomplete, số nút thăm chủ yếu phụ thuộc k. Biến thể mảng dùng khoảng 1,50 đến 1,53 lần bộ nhớ của hash map ở alphabet 26; kết luận cho alphabet 105 vẫn là giới hạn cần đo thêm. Em chuyển lại cho Lợi.</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16</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[HUỲNH PHÁT LỢI — khoảng 50 giây]
Aho–Corasick là phần mở rộng nối hai ý tưởng: cấu trúc Trie lưu nhiều mẫu, còn failure link tổng quát hóa prefix function của KMP. Khi số mẫu tăng từ 1 lên 100, số phép so sánh chỉ tăng nhẹ; chạy KMP lặp lại tăng gần tuyến tính theo số mẫu. Tuy vậy với đúng một mẫu, KMP vẫn phù hợp hơn vì Aho–Corasick có chi phí dựng cấu trúc. Mở rộng này chứng minh hai module có thể tích hợp mà không phá vỡ thiết kế độc lập.</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17</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[HUỲNH PHÁT LỢI — khoảng 55 giây]
Nhóm hoàn thành hai module độc lập, demo CLI và web, 276 test cùng 10 doctest, năm nhóm thực nghiệm và pipeline tái lập bằng seed cùng SHA-256. Kết quả chính là các chặn 2n và 2m được kiểm chứng, search Trie độc lập N, và Aho–Corasick có lợi khi có nhiều mẫu. Giới hạn còn lại là đo trên CPython, dữ liệu natural-like tổng hợp, và trade-off alphabet mới đo ở 26 ký tự. Cảm ơn thầy và các bạn; nhóm em sẵn sàng trả lời câu hỏi.</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18</a:t>
            </a:fld>
            <a:endParaRPr lang="vi-VN"/>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1371600"/>
            <a:ext cx="9144000" cy="365760"/>
          </a:xfrm>
          <a:prstGeom prst="rect">
            <a:avLst/>
          </a:prstGeom>
          <a:noFill/>
          <a:ln/>
        </p:spPr>
        <p:txBody>
          <a:bodyPr wrap="square" lIns="0" tIns="0" rIns="0" bIns="0" rtlCol="0" anchor="ctr"/>
          <a:lstStyle/>
          <a:p>
            <a:pPr indent="0" marL="0">
              <a:buNone/>
            </a:pPr>
            <a:r>
              <a:rPr lang="en-US" sz="1400" b="1" spc="300" kern="0" dirty="0">
                <a:solidFill>
                  <a:srgbClr val="5BC0BE"/>
                </a:solidFill>
                <a:latin typeface="Calibri" pitchFamily="34" charset="0"/>
                <a:ea typeface="Calibri" pitchFamily="34" charset="-122"/>
                <a:cs typeface="Calibri" pitchFamily="34" charset="-120"/>
              </a:rPr>
              <a:t>CHUYÊN ĐỀ 10</a:t>
            </a:r>
            <a:endParaRPr lang="en-US" sz="1400" dirty="0"/>
          </a:p>
        </p:txBody>
      </p:sp>
      <p:sp>
        <p:nvSpPr>
          <p:cNvPr id="3" name="Text 1"/>
          <p:cNvSpPr/>
          <p:nvPr/>
        </p:nvSpPr>
        <p:spPr>
          <a:xfrm>
            <a:off x="548640" y="1828800"/>
            <a:ext cx="10515600" cy="164592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Times New Roman" pitchFamily="34" charset="0"/>
                <a:ea typeface="Times New Roman" pitchFamily="34" charset="-122"/>
                <a:cs typeface="Times New Roman" pitchFamily="34" charset="-120"/>
              </a:rPr>
              <a:t>Xử lý chuỗi với thuật toán KMP</a:t>
            </a:r>
            <a:endParaRPr lang="en-US" sz="4000" dirty="0"/>
          </a:p>
          <a:p>
            <a:pPr indent="0" marL="0">
              <a:lnSpc>
                <a:spcPts val="4600"/>
              </a:lnSpc>
              <a:buNone/>
            </a:pPr>
            <a:r>
              <a:rPr lang="en-US" sz="4000" b="1" dirty="0">
                <a:solidFill>
                  <a:srgbClr val="FFFFFF"/>
                </a:solidFill>
                <a:latin typeface="Times New Roman" pitchFamily="34" charset="0"/>
                <a:ea typeface="Times New Roman" pitchFamily="34" charset="-122"/>
                <a:cs typeface="Times New Roman" pitchFamily="34" charset="-120"/>
              </a:rPr>
              <a:t>và cấu trúc dữ liệu Trie</a:t>
            </a:r>
            <a:endParaRPr lang="en-US" sz="4000" dirty="0"/>
          </a:p>
        </p:txBody>
      </p:sp>
      <p:sp>
        <p:nvSpPr>
          <p:cNvPr id="4" name="Text 2"/>
          <p:cNvSpPr/>
          <p:nvPr/>
        </p:nvSpPr>
        <p:spPr>
          <a:xfrm>
            <a:off x="548640" y="3611880"/>
            <a:ext cx="10058400" cy="457200"/>
          </a:xfrm>
          <a:prstGeom prst="rect">
            <a:avLst/>
          </a:prstGeom>
          <a:noFill/>
          <a:ln/>
        </p:spPr>
        <p:txBody>
          <a:bodyPr wrap="square" lIns="0" tIns="0" rIns="0" bIns="0" rtlCol="0" anchor="ctr"/>
          <a:lstStyle/>
          <a:p>
            <a:pPr indent="0" marL="0">
              <a:buNone/>
            </a:pPr>
            <a:r>
              <a:rPr lang="en-US" sz="1900" i="1" dirty="0">
                <a:solidFill>
                  <a:srgbClr val="5BC0BE"/>
                </a:solidFill>
                <a:latin typeface="Calibri" pitchFamily="34" charset="0"/>
                <a:ea typeface="Calibri" pitchFamily="34" charset="-122"/>
                <a:cs typeface="Calibri" pitchFamily="34" charset="-120"/>
              </a:rPr>
              <a:t>Interactive Text Search &amp; Autocomplete System</a:t>
            </a:r>
            <a:endParaRPr lang="en-US" sz="1900" dirty="0"/>
          </a:p>
        </p:txBody>
      </p:sp>
      <p:sp>
        <p:nvSpPr>
          <p:cNvPr id="5" name="Shape 3"/>
          <p:cNvSpPr/>
          <p:nvPr/>
        </p:nvSpPr>
        <p:spPr>
          <a:xfrm>
            <a:off x="548640" y="4343400"/>
            <a:ext cx="2011680" cy="32004"/>
          </a:xfrm>
          <a:prstGeom prst="rect">
            <a:avLst/>
          </a:prstGeom>
          <a:solidFill>
            <a:srgbClr val="1C7293"/>
          </a:solidFill>
          <a:ln w="12700">
            <a:solidFill>
              <a:srgbClr val="1C7293"/>
            </a:solidFill>
            <a:prstDash val="solid"/>
          </a:ln>
        </p:spPr>
      </p:sp>
      <p:sp>
        <p:nvSpPr>
          <p:cNvPr id="6" name="Text 4"/>
          <p:cNvSpPr/>
          <p:nvPr/>
        </p:nvSpPr>
        <p:spPr>
          <a:xfrm>
            <a:off x="548640" y="4663440"/>
            <a:ext cx="7315200" cy="3200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Nhóm chuyên đề 10  ·  Trình bày: Huỳnh Phát Lợi · Võ Phú Vinh · Thanh Tú</a:t>
            </a:r>
            <a:endParaRPr lang="en-US" sz="1600" dirty="0"/>
          </a:p>
        </p:txBody>
      </p:sp>
      <p:sp>
        <p:nvSpPr>
          <p:cNvPr id="7" name="Text 5"/>
          <p:cNvSpPr/>
          <p:nvPr/>
        </p:nvSpPr>
        <p:spPr>
          <a:xfrm>
            <a:off x="548640" y="5029200"/>
            <a:ext cx="8229600" cy="32004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Môn: Các thuật toán tối ưu   ·   Tháng 8 năm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NHÓM THỰC HIỆN</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B2430"/>
                </a:solidFill>
                <a:latin typeface="Times New Roman" pitchFamily="34" charset="0"/>
                <a:ea typeface="Times New Roman" pitchFamily="34" charset="-122"/>
                <a:cs typeface="Times New Roman" pitchFamily="34" charset="-120"/>
              </a:rPr>
              <a:t>Thành viên và phần đóng góp</a:t>
            </a:r>
            <a:endParaRPr lang="en-US" sz="3000" dirty="0"/>
          </a:p>
        </p:txBody>
      </p:sp>
      <p:sp>
        <p:nvSpPr>
          <p:cNvPr id="4" name="Shape 2"/>
          <p:cNvSpPr/>
          <p:nvPr/>
        </p:nvSpPr>
        <p:spPr>
          <a:xfrm>
            <a:off x="548640" y="1481328"/>
            <a:ext cx="11064240" cy="1078992"/>
          </a:xfrm>
          <a:prstGeom prst="roundRect">
            <a:avLst>
              <a:gd name="adj" fmla="val 6780"/>
            </a:avLst>
          </a:prstGeom>
          <a:solidFill>
            <a:srgbClr val="E7F4F4"/>
          </a:solidFill>
          <a:ln w="12700">
            <a:solidFill>
              <a:srgbClr val="5BC0BE"/>
            </a:solidFill>
            <a:prstDash val="solid"/>
          </a:ln>
        </p:spPr>
      </p:sp>
      <p:sp>
        <p:nvSpPr>
          <p:cNvPr id="5" name="Text 3"/>
          <p:cNvSpPr/>
          <p:nvPr/>
        </p:nvSpPr>
        <p:spPr>
          <a:xfrm>
            <a:off x="822960" y="1645920"/>
            <a:ext cx="2926080" cy="329184"/>
          </a:xfrm>
          <a:prstGeom prst="rect">
            <a:avLst/>
          </a:prstGeom>
          <a:noFill/>
          <a:ln/>
        </p:spPr>
        <p:txBody>
          <a:bodyPr wrap="square" lIns="0" tIns="0" rIns="0" bIns="0" rtlCol="0" anchor="ctr"/>
          <a:lstStyle/>
          <a:p>
            <a:pPr indent="0" marL="0">
              <a:buNone/>
            </a:pPr>
            <a:r>
              <a:rPr lang="en-US" sz="1700" b="1" dirty="0">
                <a:solidFill>
                  <a:srgbClr val="065A82"/>
                </a:solidFill>
                <a:latin typeface="Times New Roman" pitchFamily="34" charset="0"/>
                <a:ea typeface="Times New Roman" pitchFamily="34" charset="-122"/>
                <a:cs typeface="Times New Roman" pitchFamily="34" charset="-120"/>
              </a:rPr>
              <a:t>Huỳnh Phát Lợi</a:t>
            </a:r>
            <a:endParaRPr lang="en-US" sz="1700" dirty="0"/>
          </a:p>
        </p:txBody>
      </p:sp>
      <p:sp>
        <p:nvSpPr>
          <p:cNvPr id="6" name="Text 4"/>
          <p:cNvSpPr/>
          <p:nvPr/>
        </p:nvSpPr>
        <p:spPr>
          <a:xfrm>
            <a:off x="3794760" y="1636776"/>
            <a:ext cx="310896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Trưởng nhóm · KMP · tích hợp</a:t>
            </a:r>
            <a:endParaRPr lang="en-US" sz="1300" dirty="0"/>
          </a:p>
        </p:txBody>
      </p:sp>
      <p:sp>
        <p:nvSpPr>
          <p:cNvPr id="7" name="Text 5"/>
          <p:cNvSpPr/>
          <p:nvPr/>
        </p:nvSpPr>
        <p:spPr>
          <a:xfrm>
            <a:off x="3794760" y="1993392"/>
            <a:ext cx="7452360" cy="384048"/>
          </a:xfrm>
          <a:prstGeom prst="rect">
            <a:avLst/>
          </a:prstGeom>
          <a:noFill/>
          <a:ln/>
        </p:spPr>
        <p:txBody>
          <a:bodyPr wrap="square" lIns="0" tIns="0" rIns="0" bIns="0" rtlCol="0" anchor="ctr"/>
          <a:lstStyle/>
          <a:p>
            <a:pPr indent="0" marL="0">
              <a:buNone/>
            </a:pPr>
            <a:r>
              <a:rPr lang="en-US" sz="1220" dirty="0">
                <a:solidFill>
                  <a:srgbClr val="6B7280"/>
                </a:solidFill>
                <a:latin typeface="Calibri" pitchFamily="34" charset="0"/>
                <a:ea typeface="Calibri" pitchFamily="34" charset="-122"/>
                <a:cs typeface="Calibri" pitchFamily="34" charset="-120"/>
              </a:rPr>
              <a:t>Thiết kế kiến trúc; build_lps, kmp_search; Aho–Corasick; CLI/Web demo</a:t>
            </a:r>
            <a:endParaRPr lang="en-US" sz="1220" dirty="0"/>
          </a:p>
        </p:txBody>
      </p:sp>
      <p:sp>
        <p:nvSpPr>
          <p:cNvPr id="8" name="Shape 6"/>
          <p:cNvSpPr/>
          <p:nvPr/>
        </p:nvSpPr>
        <p:spPr>
          <a:xfrm>
            <a:off x="548640" y="2834640"/>
            <a:ext cx="11064240" cy="1078992"/>
          </a:xfrm>
          <a:prstGeom prst="roundRect">
            <a:avLst>
              <a:gd name="adj" fmla="val 6780"/>
            </a:avLst>
          </a:prstGeom>
          <a:solidFill>
            <a:srgbClr val="EEF3F8"/>
          </a:solidFill>
          <a:ln w="12700">
            <a:solidFill>
              <a:srgbClr val="D7E0EA"/>
            </a:solidFill>
            <a:prstDash val="solid"/>
          </a:ln>
        </p:spPr>
      </p:sp>
      <p:sp>
        <p:nvSpPr>
          <p:cNvPr id="9" name="Text 7"/>
          <p:cNvSpPr/>
          <p:nvPr/>
        </p:nvSpPr>
        <p:spPr>
          <a:xfrm>
            <a:off x="822960" y="2999232"/>
            <a:ext cx="2926080" cy="329184"/>
          </a:xfrm>
          <a:prstGeom prst="rect">
            <a:avLst/>
          </a:prstGeom>
          <a:noFill/>
          <a:ln/>
        </p:spPr>
        <p:txBody>
          <a:bodyPr wrap="square" lIns="0" tIns="0" rIns="0" bIns="0" rtlCol="0" anchor="ctr"/>
          <a:lstStyle/>
          <a:p>
            <a:pPr indent="0" marL="0">
              <a:buNone/>
            </a:pPr>
            <a:r>
              <a:rPr lang="en-US" sz="1700" b="1" dirty="0">
                <a:solidFill>
                  <a:srgbClr val="1B2430"/>
                </a:solidFill>
                <a:latin typeface="Times New Roman" pitchFamily="34" charset="0"/>
                <a:ea typeface="Times New Roman" pitchFamily="34" charset="-122"/>
                <a:cs typeface="Times New Roman" pitchFamily="34" charset="-120"/>
              </a:rPr>
              <a:t>Võ Phú Vinh</a:t>
            </a:r>
            <a:endParaRPr lang="en-US" sz="1700" dirty="0"/>
          </a:p>
        </p:txBody>
      </p:sp>
      <p:sp>
        <p:nvSpPr>
          <p:cNvPr id="10" name="Text 8"/>
          <p:cNvSpPr/>
          <p:nvPr/>
        </p:nvSpPr>
        <p:spPr>
          <a:xfrm>
            <a:off x="3794760" y="2990088"/>
            <a:ext cx="310896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Lý thuyết · báo cáo</a:t>
            </a:r>
            <a:endParaRPr lang="en-US" sz="1300" dirty="0"/>
          </a:p>
        </p:txBody>
      </p:sp>
      <p:sp>
        <p:nvSpPr>
          <p:cNvPr id="11" name="Text 9"/>
          <p:cNvSpPr/>
          <p:nvPr/>
        </p:nvSpPr>
        <p:spPr>
          <a:xfrm>
            <a:off x="3794760" y="3346704"/>
            <a:ext cx="7452360" cy="384048"/>
          </a:xfrm>
          <a:prstGeom prst="rect">
            <a:avLst/>
          </a:prstGeom>
          <a:noFill/>
          <a:ln/>
        </p:spPr>
        <p:txBody>
          <a:bodyPr wrap="square" lIns="0" tIns="0" rIns="0" bIns="0" rtlCol="0" anchor="ctr"/>
          <a:lstStyle/>
          <a:p>
            <a:pPr indent="0" marL="0">
              <a:buNone/>
            </a:pPr>
            <a:r>
              <a:rPr lang="en-US" sz="1220" dirty="0">
                <a:solidFill>
                  <a:srgbClr val="6B7280"/>
                </a:solidFill>
                <a:latin typeface="Calibri" pitchFamily="34" charset="0"/>
                <a:ea typeface="Calibri" pitchFamily="34" charset="-122"/>
                <a:cs typeface="Calibri" pitchFamily="34" charset="-120"/>
              </a:rPr>
              <a:t>Định nghĩa, chứng minh tính đúng, phân tích khấu hao; biên tập nội dung trình bày</a:t>
            </a:r>
            <a:endParaRPr lang="en-US" sz="1220" dirty="0"/>
          </a:p>
        </p:txBody>
      </p:sp>
      <p:sp>
        <p:nvSpPr>
          <p:cNvPr id="12" name="Shape 10"/>
          <p:cNvSpPr/>
          <p:nvPr/>
        </p:nvSpPr>
        <p:spPr>
          <a:xfrm>
            <a:off x="548640" y="4187952"/>
            <a:ext cx="11064240" cy="1078992"/>
          </a:xfrm>
          <a:prstGeom prst="roundRect">
            <a:avLst>
              <a:gd name="adj" fmla="val 6780"/>
            </a:avLst>
          </a:prstGeom>
          <a:solidFill>
            <a:srgbClr val="EEF3F8"/>
          </a:solidFill>
          <a:ln w="12700">
            <a:solidFill>
              <a:srgbClr val="D7E0EA"/>
            </a:solidFill>
            <a:prstDash val="solid"/>
          </a:ln>
        </p:spPr>
      </p:sp>
      <p:sp>
        <p:nvSpPr>
          <p:cNvPr id="13" name="Text 11"/>
          <p:cNvSpPr/>
          <p:nvPr/>
        </p:nvSpPr>
        <p:spPr>
          <a:xfrm>
            <a:off x="822960" y="4352544"/>
            <a:ext cx="2926080" cy="329184"/>
          </a:xfrm>
          <a:prstGeom prst="rect">
            <a:avLst/>
          </a:prstGeom>
          <a:noFill/>
          <a:ln/>
        </p:spPr>
        <p:txBody>
          <a:bodyPr wrap="square" lIns="0" tIns="0" rIns="0" bIns="0" rtlCol="0" anchor="ctr"/>
          <a:lstStyle/>
          <a:p>
            <a:pPr indent="0" marL="0">
              <a:buNone/>
            </a:pPr>
            <a:r>
              <a:rPr lang="en-US" sz="1700" b="1" dirty="0">
                <a:solidFill>
                  <a:srgbClr val="1B2430"/>
                </a:solidFill>
                <a:latin typeface="Times New Roman" pitchFamily="34" charset="0"/>
                <a:ea typeface="Times New Roman" pitchFamily="34" charset="-122"/>
                <a:cs typeface="Times New Roman" pitchFamily="34" charset="-120"/>
              </a:rPr>
              <a:t>Thanh Tú</a:t>
            </a:r>
            <a:endParaRPr lang="en-US" sz="1700" dirty="0"/>
          </a:p>
        </p:txBody>
      </p:sp>
      <p:sp>
        <p:nvSpPr>
          <p:cNvPr id="14" name="Text 12"/>
          <p:cNvSpPr/>
          <p:nvPr/>
        </p:nvSpPr>
        <p:spPr>
          <a:xfrm>
            <a:off x="3794760" y="4343400"/>
            <a:ext cx="310896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Trie · kiểm thử · thực nghiệm</a:t>
            </a:r>
            <a:endParaRPr lang="en-US" sz="1300" dirty="0"/>
          </a:p>
        </p:txBody>
      </p:sp>
      <p:sp>
        <p:nvSpPr>
          <p:cNvPr id="15" name="Text 13"/>
          <p:cNvSpPr/>
          <p:nvPr/>
        </p:nvSpPr>
        <p:spPr>
          <a:xfrm>
            <a:off x="3794760" y="4700016"/>
            <a:ext cx="7452360" cy="384048"/>
          </a:xfrm>
          <a:prstGeom prst="rect">
            <a:avLst/>
          </a:prstGeom>
          <a:noFill/>
          <a:ln/>
        </p:spPr>
        <p:txBody>
          <a:bodyPr wrap="square" lIns="0" tIns="0" rIns="0" bIns="0" rtlCol="0" anchor="ctr"/>
          <a:lstStyle/>
          <a:p>
            <a:pPr indent="0" marL="0">
              <a:buNone/>
            </a:pPr>
            <a:r>
              <a:rPr lang="en-US" sz="1220" dirty="0">
                <a:solidFill>
                  <a:srgbClr val="6B7280"/>
                </a:solidFill>
                <a:latin typeface="Calibri" pitchFamily="34" charset="0"/>
                <a:ea typeface="Calibri" pitchFamily="34" charset="-122"/>
                <a:cs typeface="Calibri" pitchFamily="34" charset="-120"/>
              </a:rPr>
              <a:t>Trie/autocomplete; baseline; test biên/đối kháng/ngẫu nhiên; benchmark và biểu đồ</a:t>
            </a:r>
            <a:endParaRPr lang="en-US" sz="1220" dirty="0"/>
          </a:p>
        </p:txBody>
      </p:sp>
      <p:sp>
        <p:nvSpPr>
          <p:cNvPr id="16" name="Text 14"/>
          <p:cNvSpPr/>
          <p:nvPr/>
        </p:nvSpPr>
        <p:spPr>
          <a:xfrm>
            <a:off x="548640" y="5669280"/>
            <a:ext cx="11064240" cy="411480"/>
          </a:xfrm>
          <a:prstGeom prst="rect">
            <a:avLst/>
          </a:prstGeom>
          <a:noFill/>
          <a:ln/>
        </p:spPr>
        <p:txBody>
          <a:bodyPr wrap="square" lIns="0" tIns="0" rIns="0" bIns="0" rtlCol="0" anchor="ctr"/>
          <a:lstStyle/>
          <a:p>
            <a:pPr indent="0" marL="0">
              <a:buNone/>
            </a:pPr>
            <a:r>
              <a:rPr lang="en-US" sz="1250" i="1" dirty="0">
                <a:solidFill>
                  <a:srgbClr val="065A82"/>
                </a:solidFill>
                <a:latin typeface="Calibri" pitchFamily="34" charset="0"/>
                <a:ea typeface="Calibri" pitchFamily="34" charset="-122"/>
                <a:cs typeface="Calibri" pitchFamily="34" charset="-120"/>
              </a:rPr>
              <a:t>Phân công là trách nhiệm chính; cả ba thành viên cùng review phần lõi và có thể giải thích KMP, Trie, baseline và kết quả thực nghiệm.</a:t>
            </a:r>
            <a:endParaRPr lang="en-US" sz="1250" dirty="0"/>
          </a:p>
        </p:txBody>
      </p:sp>
      <p:sp>
        <p:nvSpPr>
          <p:cNvPr id="17" name="Text 15"/>
          <p:cNvSpPr/>
          <p:nvPr/>
        </p:nvSpPr>
        <p:spPr>
          <a:xfrm>
            <a:off x="11338560" y="6355080"/>
            <a:ext cx="36576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ĐẶT VẤN ĐỀ</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B2430"/>
                </a:solidFill>
                <a:latin typeface="Times New Roman" pitchFamily="34" charset="0"/>
                <a:ea typeface="Times New Roman" pitchFamily="34" charset="-122"/>
                <a:cs typeface="Times New Roman" pitchFamily="34" charset="-120"/>
              </a:rPr>
              <a:t>Hai bài toán nghe giống nhau, cấu trúc khác hẳn nhau</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200400"/>
                <a:gridCol w="3931920"/>
                <a:gridCol w="3931920"/>
              </a:tblGrid>
              <a:tr h="457200">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Tìm mẫu trong văn bản</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Gợi ý theo tiền tố</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r>
              <a:tr h="457200">
                <a:tc>
                  <a:txBody>
                    <a:bodyPr/>
                    <a:lstStyle/>
                    <a:p>
                      <a:pPr algn="l" indent="0" marL="0">
                        <a:buNone/>
                      </a:pPr>
                      <a:r>
                        <a:rPr lang="en-US" sz="1500" b="1" dirty="0">
                          <a:solidFill>
                            <a:srgbClr val="1B2430"/>
                          </a:solidFill>
                          <a:latin typeface="Calibri" pitchFamily="34" charset="0"/>
                          <a:ea typeface="Calibri" pitchFamily="34" charset="-122"/>
                          <a:cs typeface="Calibri" pitchFamily="34" charset="-120"/>
                        </a:rPr>
                        <a:t>Cái gì biết trước?</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không gì cả</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toàn bộ từ điển</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57200">
                <a:tc>
                  <a:txBody>
                    <a:bodyPr/>
                    <a:lstStyle/>
                    <a:p>
                      <a:pPr algn="l" indent="0" marL="0">
                        <a:buNone/>
                      </a:pPr>
                      <a:r>
                        <a:rPr lang="en-US" sz="1500" b="1" dirty="0">
                          <a:solidFill>
                            <a:srgbClr val="1B2430"/>
                          </a:solidFill>
                          <a:latin typeface="Calibri" pitchFamily="34" charset="0"/>
                          <a:ea typeface="Calibri" pitchFamily="34" charset="-122"/>
                          <a:cs typeface="Calibri" pitchFamily="34" charset="-120"/>
                        </a:rPr>
                        <a:t>Tiền xử lý phía nào?</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MẪU</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DỮ LIỆU</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57200">
                <a:tc>
                  <a:txBody>
                    <a:bodyPr/>
                    <a:lstStyle/>
                    <a:p>
                      <a:pPr algn="l" indent="0" marL="0">
                        <a:buNone/>
                      </a:pPr>
                      <a:r>
                        <a:rPr lang="en-US" sz="1500" b="1" dirty="0">
                          <a:solidFill>
                            <a:srgbClr val="1B2430"/>
                          </a:solidFill>
                          <a:latin typeface="Calibri" pitchFamily="34" charset="0"/>
                          <a:ea typeface="Calibri" pitchFamily="34" charset="-122"/>
                          <a:cs typeface="Calibri" pitchFamily="34" charset="-120"/>
                        </a:rPr>
                        <a:t>Thuật toán</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KMP</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Trie</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57200">
                <a:tc>
                  <a:txBody>
                    <a:bodyPr/>
                    <a:lstStyle/>
                    <a:p>
                      <a:pPr algn="l" indent="0" marL="0">
                        <a:buNone/>
                      </a:pPr>
                      <a:r>
                        <a:rPr lang="en-US" sz="1500" b="1" dirty="0">
                          <a:solidFill>
                            <a:srgbClr val="1B2430"/>
                          </a:solidFill>
                          <a:latin typeface="Calibri" pitchFamily="34" charset="0"/>
                          <a:ea typeface="Calibri" pitchFamily="34" charset="-122"/>
                          <a:cs typeface="Calibri" pitchFamily="34" charset="-120"/>
                        </a:rPr>
                        <a:t>Phụ thuộc |Σ|?</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KHÔNG</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CÓ</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343400"/>
            <a:ext cx="11064240" cy="1051560"/>
          </a:xfrm>
          <a:prstGeom prst="roundRect">
            <a:avLst>
              <a:gd name="adj" fmla="val 6957"/>
            </a:avLst>
          </a:prstGeom>
          <a:solidFill>
            <a:srgbClr val="EEF3F8"/>
          </a:solidFill>
          <a:ln w="12700">
            <a:solidFill>
              <a:srgbClr val="EEF3F8"/>
            </a:solidFill>
            <a:prstDash val="solid"/>
          </a:ln>
        </p:spPr>
      </p:sp>
      <p:sp>
        <p:nvSpPr>
          <p:cNvPr id="6" name="Text 3"/>
          <p:cNvSpPr/>
          <p:nvPr/>
        </p:nvSpPr>
        <p:spPr>
          <a:xfrm>
            <a:off x="868680" y="4498848"/>
            <a:ext cx="10424160" cy="365760"/>
          </a:xfrm>
          <a:prstGeom prst="rect">
            <a:avLst/>
          </a:prstGeom>
          <a:noFill/>
          <a:ln/>
        </p:spPr>
        <p:txBody>
          <a:bodyPr wrap="square" lIns="0" tIns="0" rIns="0" bIns="0" rtlCol="0" anchor="ctr"/>
          <a:lstStyle/>
          <a:p>
            <a:pPr indent="0" marL="0">
              <a:buNone/>
            </a:pPr>
            <a:r>
              <a:rPr lang="en-US" sz="1900" b="1" dirty="0">
                <a:solidFill>
                  <a:srgbClr val="065A82"/>
                </a:solidFill>
                <a:latin typeface="Times New Roman" pitchFamily="34" charset="0"/>
                <a:ea typeface="Times New Roman" pitchFamily="34" charset="-122"/>
                <a:cs typeface="Times New Roman" pitchFamily="34" charset="-120"/>
              </a:rPr>
              <a:t>Cái gì được biết trước quyết định nên tiền xử lý phía nào.</a:t>
            </a:r>
            <a:endParaRPr lang="en-US" sz="1900" dirty="0"/>
          </a:p>
        </p:txBody>
      </p:sp>
      <p:sp>
        <p:nvSpPr>
          <p:cNvPr id="7" name="Text 4"/>
          <p:cNvSpPr/>
          <p:nvPr/>
        </p:nvSpPr>
        <p:spPr>
          <a:xfrm>
            <a:off x="868680" y="4892040"/>
            <a:ext cx="10424160" cy="365760"/>
          </a:xfrm>
          <a:prstGeom prst="rect">
            <a:avLst/>
          </a:prstGeom>
          <a:noFill/>
          <a:ln/>
        </p:spPr>
        <p:txBody>
          <a:bodyPr wrap="square" lIns="0" tIns="0" rIns="0" bIns="0" rtlCol="0" anchor="ctr"/>
          <a:lstStyle/>
          <a:p>
            <a:pPr indent="0" marL="0">
              <a:buNone/>
            </a:pPr>
            <a:r>
              <a:rPr lang="en-US" sz="1350" dirty="0">
                <a:solidFill>
                  <a:srgbClr val="1B2430"/>
                </a:solidFill>
                <a:latin typeface="Calibri" pitchFamily="34" charset="0"/>
                <a:ea typeface="Calibri" pitchFamily="34" charset="-122"/>
                <a:cs typeface="Calibri" pitchFamily="34" charset="-120"/>
              </a:rPr>
              <a:t>Đó là lý do đề bài yêu cầu hai module độc lập — trong mã nguồn, src/kmp và src/trie không import lẫn nhau.</a:t>
            </a:r>
            <a:endParaRPr lang="en-US" sz="1350" dirty="0"/>
          </a:p>
        </p:txBody>
      </p:sp>
      <p:sp>
        <p:nvSpPr>
          <p:cNvPr id="8" name="Text 5"/>
          <p:cNvSpPr/>
          <p:nvPr/>
        </p:nvSpPr>
        <p:spPr>
          <a:xfrm>
            <a:off x="11338560" y="6355080"/>
            <a:ext cx="36576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MODULE A VÀ MODULE B</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B2430"/>
                </a:solidFill>
                <a:latin typeface="Times New Roman" pitchFamily="34" charset="0"/>
                <a:ea typeface="Times New Roman" pitchFamily="34" charset="-122"/>
                <a:cs typeface="Times New Roman" pitchFamily="34" charset="-120"/>
              </a:rPr>
              <a:t>Phát biểu bài toán</a:t>
            </a:r>
            <a:endParaRPr lang="en-US" sz="3000" dirty="0"/>
          </a:p>
        </p:txBody>
      </p:sp>
      <p:sp>
        <p:nvSpPr>
          <p:cNvPr id="4" name="Shape 2"/>
          <p:cNvSpPr/>
          <p:nvPr/>
        </p:nvSpPr>
        <p:spPr>
          <a:xfrm>
            <a:off x="548640" y="1600200"/>
            <a:ext cx="5440680" cy="3657600"/>
          </a:xfrm>
          <a:prstGeom prst="roundRect">
            <a:avLst>
              <a:gd name="adj" fmla="val 2000"/>
            </a:avLst>
          </a:prstGeom>
          <a:solidFill>
            <a:srgbClr val="EEF3F8"/>
          </a:solidFill>
          <a:ln w="12700">
            <a:solidFill>
              <a:srgbClr val="EEF3F8"/>
            </a:solidFill>
            <a:prstDash val="solid"/>
          </a:ln>
        </p:spPr>
      </p:sp>
      <p:sp>
        <p:nvSpPr>
          <p:cNvPr id="5" name="Text 3"/>
          <p:cNvSpPr/>
          <p:nvPr/>
        </p:nvSpPr>
        <p:spPr>
          <a:xfrm>
            <a:off x="822960" y="1783080"/>
            <a:ext cx="4937760" cy="320040"/>
          </a:xfrm>
          <a:prstGeom prst="rect">
            <a:avLst/>
          </a:prstGeom>
          <a:noFill/>
          <a:ln/>
        </p:spPr>
        <p:txBody>
          <a:bodyPr wrap="square" lIns="0" tIns="0" rIns="0" bIns="0" rtlCol="0" anchor="ctr"/>
          <a:lstStyle/>
          <a:p>
            <a:pPr indent="0" marL="0">
              <a:buNone/>
            </a:pPr>
            <a:r>
              <a:rPr lang="en-US" sz="1500" b="1" spc="120" kern="0" dirty="0">
                <a:solidFill>
                  <a:srgbClr val="065A82"/>
                </a:solidFill>
                <a:latin typeface="Calibri" pitchFamily="34" charset="0"/>
                <a:ea typeface="Calibri" pitchFamily="34" charset="-122"/>
                <a:cs typeface="Calibri" pitchFamily="34" charset="-120"/>
              </a:rPr>
              <a:t>MODULE A — KMP</a:t>
            </a:r>
            <a:endParaRPr lang="en-US" sz="1500" dirty="0"/>
          </a:p>
        </p:txBody>
      </p:sp>
      <p:sp>
        <p:nvSpPr>
          <p:cNvPr id="6" name="Text 4"/>
          <p:cNvSpPr/>
          <p:nvPr/>
        </p:nvSpPr>
        <p:spPr>
          <a:xfrm>
            <a:off x="822960" y="2194560"/>
            <a:ext cx="4937760" cy="1371600"/>
          </a:xfrm>
          <a:prstGeom prst="rect">
            <a:avLst/>
          </a:prstGeom>
          <a:noFill/>
          <a:ln/>
        </p:spPr>
        <p:txBody>
          <a:bodyPr wrap="square" lIns="0" tIns="0" rIns="0" bIns="0" rtlCol="0" anchor="ctr"/>
          <a:lstStyle/>
          <a:p>
            <a:pPr indent="0" marL="0">
              <a:lnSpc>
                <a:spcPts val="2200"/>
              </a:lnSpc>
              <a:buNone/>
            </a:pPr>
            <a:r>
              <a:rPr lang="en-US" sz="1350" b="1" dirty="0">
                <a:solidFill>
                  <a:srgbClr val="1B2430"/>
                </a:solidFill>
                <a:latin typeface="Calibri" pitchFamily="34" charset="0"/>
                <a:ea typeface="Calibri" pitchFamily="34" charset="-122"/>
                <a:cs typeface="Calibri" pitchFamily="34" charset="-120"/>
              </a:rPr>
              <a:t>Vào: </a:t>
            </a:r>
            <a:pPr indent="0" marL="0">
              <a:lnSpc>
                <a:spcPts val="2200"/>
              </a:lnSpc>
              <a:buNone/>
            </a:pPr>
            <a:r>
              <a:rPr lang="en-US" sz="1350" dirty="0">
                <a:solidFill>
                  <a:srgbClr val="1B2430"/>
                </a:solidFill>
                <a:latin typeface="Calibri" pitchFamily="34" charset="0"/>
                <a:ea typeface="Calibri" pitchFamily="34" charset="-122"/>
                <a:cs typeface="Calibri" pitchFamily="34" charset="-120"/>
              </a:rPr>
              <a:t>văn bản T (|T| = n), mẫu P (|P| = m ≥ 1)</a:t>
            </a:r>
            <a:endParaRPr lang="en-US" sz="1350" dirty="0"/>
          </a:p>
          <a:p>
            <a:pPr indent="0" marL="0">
              <a:lnSpc>
                <a:spcPts val="2200"/>
              </a:lnSpc>
              <a:buNone/>
            </a:pPr>
            <a:r>
              <a:rPr lang="en-US" sz="1350" b="1" dirty="0">
                <a:solidFill>
                  <a:srgbClr val="1B2430"/>
                </a:solidFill>
                <a:latin typeface="Calibri" pitchFamily="34" charset="0"/>
                <a:ea typeface="Calibri" pitchFamily="34" charset="-122"/>
                <a:cs typeface="Calibri" pitchFamily="34" charset="-120"/>
              </a:rPr>
              <a:t>Ra: </a:t>
            </a:r>
            <a:pPr indent="0" marL="0">
              <a:lnSpc>
                <a:spcPts val="2200"/>
              </a:lnSpc>
              <a:buNone/>
            </a:pPr>
            <a:r>
              <a:rPr lang="en-US" sz="1350" dirty="0">
                <a:solidFill>
                  <a:srgbClr val="1B2430"/>
                </a:solidFill>
                <a:latin typeface="Calibri" pitchFamily="34" charset="0"/>
                <a:ea typeface="Calibri" pitchFamily="34" charset="-122"/>
                <a:cs typeface="Calibri" pitchFamily="34" charset="-120"/>
              </a:rPr>
              <a:t>MỌI vị trí xuất hiện, kể cả overlapping</a:t>
            </a:r>
            <a:endParaRPr lang="en-US" sz="1350" dirty="0"/>
          </a:p>
          <a:p>
            <a:pPr indent="0" marL="0">
              <a:lnSpc>
                <a:spcPts val="2200"/>
              </a:lnSpc>
              <a:buNone/>
            </a:pPr>
            <a:r>
              <a:rPr lang="en-US" sz="1350" b="1" dirty="0">
                <a:solidFill>
                  <a:srgbClr val="1B2430"/>
                </a:solidFill>
                <a:latin typeface="Calibri" pitchFamily="34" charset="0"/>
                <a:ea typeface="Calibri" pitchFamily="34" charset="-122"/>
                <a:cs typeface="Calibri" pitchFamily="34" charset="-120"/>
              </a:rPr>
              <a:t>Thời gian: </a:t>
            </a:r>
            <a:pPr indent="0" marL="0">
              <a:lnSpc>
                <a:spcPts val="2200"/>
              </a:lnSpc>
              <a:buNone/>
            </a:pPr>
            <a:r>
              <a:rPr lang="en-US" sz="1350" dirty="0">
                <a:solidFill>
                  <a:srgbClr val="1B2430"/>
                </a:solidFill>
                <a:latin typeface="Calibri" pitchFamily="34" charset="0"/>
                <a:ea typeface="Calibri" pitchFamily="34" charset="-122"/>
                <a:cs typeface="Calibri" pitchFamily="34" charset="-120"/>
              </a:rPr>
              <a:t>O(n + m), số so sánh ≤ 2n</a:t>
            </a:r>
            <a:endParaRPr lang="en-US" sz="1350" dirty="0"/>
          </a:p>
          <a:p>
            <a:pPr indent="0" marL="0">
              <a:lnSpc>
                <a:spcPts val="2200"/>
              </a:lnSpc>
              <a:buNone/>
            </a:pPr>
            <a:r>
              <a:rPr lang="en-US" sz="1350" b="1" dirty="0">
                <a:solidFill>
                  <a:srgbClr val="1B2430"/>
                </a:solidFill>
                <a:latin typeface="Calibri" pitchFamily="34" charset="0"/>
                <a:ea typeface="Calibri" pitchFamily="34" charset="-122"/>
                <a:cs typeface="Calibri" pitchFamily="34" charset="-120"/>
              </a:rPr>
              <a:t>Bộ nhớ phụ: </a:t>
            </a:r>
            <a:pPr indent="0" marL="0">
              <a:lnSpc>
                <a:spcPts val="2200"/>
              </a:lnSpc>
              <a:buNone/>
            </a:pPr>
            <a:r>
              <a:rPr lang="en-US" sz="1350" dirty="0">
                <a:solidFill>
                  <a:srgbClr val="1B2430"/>
                </a:solidFill>
                <a:latin typeface="Calibri" pitchFamily="34" charset="0"/>
                <a:ea typeface="Calibri" pitchFamily="34" charset="-122"/>
                <a:cs typeface="Calibri" pitchFamily="34" charset="-120"/>
              </a:rPr>
              <a:t>O(m) cho mảng LPS</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3703320"/>
          <a:ext cx="4937760" cy="914400"/>
        </p:xfrm>
        <a:graphic>
          <a:graphicData uri="http://schemas.openxmlformats.org/drawingml/2006/table">
            <a:tbl>
              <a:tblPr/>
              <a:tblGrid>
                <a:gridCol w="1554480"/>
                <a:gridCol w="1371600"/>
                <a:gridCol w="20116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Kết quả</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r>
              <a:tr h="310896">
                <a:tc>
                  <a:txBody>
                    <a:bodyPr/>
                    <a:lstStyle/>
                    <a:p>
                      <a:pPr algn="l" indent="0" marL="0">
                        <a:buNone/>
                      </a:pPr>
                      <a:r>
                        <a:rPr lang="en-US" sz="1200" dirty="0">
                          <a:solidFill>
                            <a:srgbClr val="1B2430"/>
                          </a:solidFill>
                          <a:latin typeface="Calibri" pitchFamily="34" charset="0"/>
                          <a:ea typeface="Calibri" pitchFamily="34" charset="-122"/>
                          <a:cs typeface="Calibri" pitchFamily="34" charset="-120"/>
                        </a:rPr>
                        <a:t>aaaa</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aa</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[0, 1, 2]</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B2430"/>
                          </a:solidFill>
                          <a:latin typeface="Calibri" pitchFamily="34" charset="0"/>
                          <a:ea typeface="Calibri" pitchFamily="34" charset="-122"/>
                          <a:cs typeface="Calibri" pitchFamily="34" charset="-120"/>
                        </a:rPr>
                        <a:t>mississippi</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issi</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[1, 4]</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B2430"/>
                          </a:solidFill>
                          <a:latin typeface="Calibri" pitchFamily="34" charset="0"/>
                          <a:ea typeface="Calibri" pitchFamily="34" charset="-122"/>
                          <a:cs typeface="Calibri" pitchFamily="34" charset="-120"/>
                        </a:rPr>
                        <a:t>abc</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abcd</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 ]   (m &gt; n)</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bl>
          </a:graphicData>
        </a:graphic>
      </p:graphicFrame>
      <p:sp>
        <p:nvSpPr>
          <p:cNvPr id="8" name="Shape 5"/>
          <p:cNvSpPr/>
          <p:nvPr/>
        </p:nvSpPr>
        <p:spPr>
          <a:xfrm>
            <a:off x="6309360" y="1600200"/>
            <a:ext cx="5303520" cy="3657600"/>
          </a:xfrm>
          <a:prstGeom prst="roundRect">
            <a:avLst>
              <a:gd name="adj" fmla="val 2000"/>
            </a:avLst>
          </a:prstGeom>
          <a:solidFill>
            <a:srgbClr val="EEF3F8"/>
          </a:solidFill>
          <a:ln w="12700">
            <a:solidFill>
              <a:srgbClr val="EEF3F8"/>
            </a:solidFill>
            <a:prstDash val="solid"/>
          </a:ln>
        </p:spPr>
      </p:sp>
      <p:sp>
        <p:nvSpPr>
          <p:cNvPr id="9" name="Text 6"/>
          <p:cNvSpPr/>
          <p:nvPr/>
        </p:nvSpPr>
        <p:spPr>
          <a:xfrm>
            <a:off x="6583680" y="1783080"/>
            <a:ext cx="4754880" cy="320040"/>
          </a:xfrm>
          <a:prstGeom prst="rect">
            <a:avLst/>
          </a:prstGeom>
          <a:noFill/>
          <a:ln/>
        </p:spPr>
        <p:txBody>
          <a:bodyPr wrap="square" lIns="0" tIns="0" rIns="0" bIns="0" rtlCol="0" anchor="ctr"/>
          <a:lstStyle/>
          <a:p>
            <a:pPr indent="0" marL="0">
              <a:buNone/>
            </a:pPr>
            <a:r>
              <a:rPr lang="en-US" sz="1500" b="1" spc="120" kern="0" dirty="0">
                <a:solidFill>
                  <a:srgbClr val="1C7293"/>
                </a:solidFill>
                <a:latin typeface="Calibri" pitchFamily="34" charset="0"/>
                <a:ea typeface="Calibri" pitchFamily="34" charset="-122"/>
                <a:cs typeface="Calibri" pitchFamily="34" charset="-120"/>
              </a:rPr>
              <a:t>MODULE B — TRIE</a:t>
            </a:r>
            <a:endParaRPr lang="en-US" sz="1500" dirty="0"/>
          </a:p>
        </p:txBody>
      </p:sp>
      <p:sp>
        <p:nvSpPr>
          <p:cNvPr id="10" name="Text 7"/>
          <p:cNvSpPr/>
          <p:nvPr/>
        </p:nvSpPr>
        <p:spPr>
          <a:xfrm>
            <a:off x="6583680" y="2194560"/>
            <a:ext cx="4754880" cy="1371600"/>
          </a:xfrm>
          <a:prstGeom prst="rect">
            <a:avLst/>
          </a:prstGeom>
          <a:noFill/>
          <a:ln/>
        </p:spPr>
        <p:txBody>
          <a:bodyPr wrap="square" lIns="0" tIns="0" rIns="0" bIns="0" rtlCol="0" anchor="ctr"/>
          <a:lstStyle/>
          <a:p>
            <a:pPr indent="0" marL="0">
              <a:lnSpc>
                <a:spcPts val="2200"/>
              </a:lnSpc>
              <a:buNone/>
            </a:pPr>
            <a:r>
              <a:rPr lang="en-US" sz="1350" b="1" dirty="0">
                <a:solidFill>
                  <a:srgbClr val="1B2430"/>
                </a:solidFill>
                <a:latin typeface="Calibri" pitchFamily="34" charset="0"/>
                <a:ea typeface="Calibri" pitchFamily="34" charset="-122"/>
                <a:cs typeface="Calibri" pitchFamily="34" charset="-120"/>
              </a:rPr>
              <a:t>Bốn thao tác bắt buộc:</a:t>
            </a:r>
            <a:endParaRPr lang="en-US" sz="1350" dirty="0"/>
          </a:p>
          <a:p>
            <a:pPr indent="0" marL="0">
              <a:lnSpc>
                <a:spcPts val="2200"/>
              </a:lnSpc>
              <a:buNone/>
            </a:pPr>
            <a:r>
              <a:rPr lang="en-US" sz="1350" dirty="0">
                <a:solidFill>
                  <a:srgbClr val="1B2430"/>
                </a:solidFill>
                <a:latin typeface="Calibri" pitchFamily="34" charset="0"/>
                <a:ea typeface="Calibri" pitchFamily="34" charset="-122"/>
                <a:cs typeface="Calibri" pitchFamily="34" charset="-120"/>
              </a:rPr>
              <a:t>insert · exact search · prefix query</a:t>
            </a:r>
            <a:endParaRPr lang="en-US" sz="1350" dirty="0"/>
          </a:p>
          <a:p>
            <a:pPr indent="0" marL="0">
              <a:lnSpc>
                <a:spcPts val="2200"/>
              </a:lnSpc>
              <a:buNone/>
            </a:pPr>
            <a:r>
              <a:rPr lang="en-US" sz="1350" dirty="0">
                <a:solidFill>
                  <a:srgbClr val="1B2430"/>
                </a:solidFill>
                <a:latin typeface="Calibri" pitchFamily="34" charset="0"/>
                <a:ea typeface="Calibri" pitchFamily="34" charset="-122"/>
                <a:cs typeface="Calibri" pitchFamily="34" charset="-120"/>
              </a:rPr>
              <a:t>autocomplete(q, k) có giới hạn kết quả</a:t>
            </a:r>
            <a:endParaRPr lang="en-US" sz="1350" dirty="0"/>
          </a:p>
          <a:p>
            <a:pPr indent="0" marL="0">
              <a:lnSpc>
                <a:spcPts val="2200"/>
              </a:lnSpc>
              <a:buNone/>
            </a:pPr>
            <a:r>
              <a:rPr lang="en-US" sz="1350" b="1" dirty="0">
                <a:solidFill>
                  <a:srgbClr val="1B2430"/>
                </a:solidFill>
                <a:latin typeface="Calibri" pitchFamily="34" charset="0"/>
                <a:ea typeface="Calibri" pitchFamily="34" charset="-122"/>
                <a:cs typeface="Calibri" pitchFamily="34" charset="-120"/>
              </a:rPr>
              <a:t>Σ′ khai báo rõ: </a:t>
            </a:r>
            <a:pPr indent="0" marL="0">
              <a:lnSpc>
                <a:spcPts val="2200"/>
              </a:lnSpc>
              <a:buNone/>
            </a:pPr>
            <a:r>
              <a:rPr lang="en-US" sz="1350" dirty="0">
                <a:solidFill>
                  <a:srgbClr val="1B2430"/>
                </a:solidFill>
                <a:latin typeface="Calibri" pitchFamily="34" charset="0"/>
                <a:ea typeface="Calibri" pitchFamily="34" charset="-122"/>
                <a:cs typeface="Calibri" pitchFamily="34" charset="-120"/>
              </a:rPr>
              <a:t>38 ký tự (mặc định), 105 (tiếng Việt)</a:t>
            </a:r>
            <a:endParaRPr lang="en-US" sz="135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583680" y="3703320"/>
          <a:ext cx="4754880" cy="914400"/>
        </p:xfrm>
        <a:graphic>
          <a:graphicData uri="http://schemas.openxmlformats.org/drawingml/2006/table">
            <a:tbl>
              <a:tblPr/>
              <a:tblGrid>
                <a:gridCol w="2103120"/>
                <a:gridCol w="26517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Truy vấn</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Kết quả</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r>
              <a:tr h="310896">
                <a:tc>
                  <a:txBody>
                    <a:bodyPr/>
                    <a:lstStyle/>
                    <a:p>
                      <a:pPr algn="l" indent="0" marL="0">
                        <a:buNone/>
                      </a:pPr>
                      <a:r>
                        <a:rPr lang="en-US" sz="1200" dirty="0">
                          <a:solidFill>
                            <a:srgbClr val="1B2430"/>
                          </a:solidFill>
                          <a:latin typeface="Calibri" pitchFamily="34" charset="0"/>
                          <a:ea typeface="Calibri" pitchFamily="34" charset="-122"/>
                          <a:cs typeface="Calibri" pitchFamily="34" charset="-120"/>
                        </a:rPr>
                        <a:t>search("ti")</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False  ← chỉ là tiền tố</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B2430"/>
                          </a:solidFill>
                          <a:latin typeface="Calibri" pitchFamily="34" charset="0"/>
                          <a:ea typeface="Calibri" pitchFamily="34" charset="-122"/>
                          <a:cs typeface="Calibri" pitchFamily="34" charset="-120"/>
                        </a:rPr>
                        <a:t>starts_with("ti")</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True   ← ngược lại</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B2430"/>
                          </a:solidFill>
                          <a:latin typeface="Calibri" pitchFamily="34" charset="0"/>
                          <a:ea typeface="Calibri" pitchFamily="34" charset="-122"/>
                          <a:cs typeface="Calibri" pitchFamily="34" charset="-120"/>
                        </a:rPr>
                        <a:t>autocomplete("t", 2)</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[tin, tinh], truncated</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bl>
          </a:graphicData>
        </a:graphic>
      </p:graphicFrame>
      <p:sp>
        <p:nvSpPr>
          <p:cNvPr id="12" name="Text 8"/>
          <p:cNvSpPr/>
          <p:nvPr/>
        </p:nvSpPr>
        <p:spPr>
          <a:xfrm>
            <a:off x="11338560" y="6355080"/>
            <a:ext cx="36576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LÝ THUYẾT</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B2430"/>
                </a:solidFill>
                <a:latin typeface="Times New Roman" pitchFamily="34" charset="0"/>
                <a:ea typeface="Times New Roman" pitchFamily="34" charset="-122"/>
                <a:cs typeface="Times New Roman" pitchFamily="34" charset="-120"/>
              </a:rPr>
              <a:t>Prefix function π — trái tim của KMP</a:t>
            </a:r>
            <a:endParaRPr lang="en-US" sz="3000" dirty="0"/>
          </a:p>
        </p:txBody>
      </p:sp>
      <p:sp>
        <p:nvSpPr>
          <p:cNvPr id="4" name="Text 2"/>
          <p:cNvSpPr/>
          <p:nvPr/>
        </p:nvSpPr>
        <p:spPr>
          <a:xfrm>
            <a:off x="548640" y="1481328"/>
            <a:ext cx="7315200" cy="365760"/>
          </a:xfrm>
          <a:prstGeom prst="rect">
            <a:avLst/>
          </a:prstGeom>
          <a:noFill/>
          <a:ln/>
        </p:spPr>
        <p:txBody>
          <a:bodyPr wrap="square" lIns="0" tIns="0" rIns="0" bIns="0" rtlCol="0" anchor="ctr"/>
          <a:lstStyle/>
          <a:p>
            <a:pPr indent="0" marL="0">
              <a:buNone/>
            </a:pPr>
            <a:r>
              <a:rPr lang="en-US" sz="1700" b="1" dirty="0">
                <a:solidFill>
                  <a:srgbClr val="065A82"/>
                </a:solidFill>
                <a:latin typeface="Calibri" pitchFamily="34" charset="0"/>
                <a:ea typeface="Calibri" pitchFamily="34" charset="-122"/>
                <a:cs typeface="Calibri" pitchFamily="34" charset="-120"/>
              </a:rPr>
              <a:t>π[i] = độ dài border dài nhất của P[0..i]</a:t>
            </a:r>
            <a:endParaRPr lang="en-US" sz="1700" dirty="0"/>
          </a:p>
        </p:txBody>
      </p:sp>
      <p:sp>
        <p:nvSpPr>
          <p:cNvPr id="5" name="Text 3"/>
          <p:cNvSpPr/>
          <p:nvPr/>
        </p:nvSpPr>
        <p:spPr>
          <a:xfrm>
            <a:off x="548640" y="1828800"/>
            <a:ext cx="73152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border = chuỗi vừa là tiền tố thật sự, vừa là hậu tố thật sự</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1005840"/>
                <a:gridCol w="1316736"/>
                <a:gridCol w="1316736"/>
                <a:gridCol w="1316736"/>
                <a:gridCol w="1316736"/>
                <a:gridCol w="1316736"/>
                <a:gridCol w="1316736"/>
                <a:gridCol w="1243584"/>
              </a:tblGrid>
              <a:tr h="384048">
                <a:tc>
                  <a:txBody>
                    <a:bodyPr/>
                    <a:lstStyle/>
                    <a:p>
                      <a:pPr algn="l" indent="0" marL="0">
                        <a:buNone/>
                      </a:pPr>
                      <a:r>
                        <a:rPr lang="en-US" sz="1500" b="1" dirty="0">
                          <a:solidFill>
                            <a:srgbClr val="1B2430"/>
                          </a:solidFill>
                          <a:latin typeface="Calibri" pitchFamily="34" charset="0"/>
                          <a:ea typeface="Calibri" pitchFamily="34" charset="-122"/>
                          <a:cs typeface="Calibri" pitchFamily="34" charset="-120"/>
                        </a:rPr>
                        <a:t>i</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DCE6F1"/>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DCE6F1"/>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DCE6F1"/>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DCE6F1"/>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DCE6F1"/>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DCE6F1"/>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DCE6F1"/>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DCE6F1"/>
                    </a:solidFill>
                  </a:tcPr>
                </a:tc>
              </a:tr>
              <a:tr h="384048">
                <a:tc>
                  <a:txBody>
                    <a:bodyPr/>
                    <a:lstStyle/>
                    <a:p>
                      <a:pPr algn="l" indent="0" marL="0">
                        <a:buNone/>
                      </a:pPr>
                      <a:r>
                        <a:rPr lang="en-US" sz="1500" dirty="0">
                          <a:solidFill>
                            <a:srgbClr val="1B2430"/>
                          </a:solidFill>
                          <a:latin typeface="Calibri" pitchFamily="34" charset="0"/>
                          <a:ea typeface="Calibri" pitchFamily="34" charset="-122"/>
                          <a:cs typeface="Calibri" pitchFamily="34" charset="-120"/>
                        </a:rPr>
                        <a:t>P[i]</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b</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b</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c</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0"/>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65A82"/>
                          </a:solidFill>
                          <a:latin typeface="Calibri" pitchFamily="34" charset="0"/>
                          <a:ea typeface="Calibri" pitchFamily="34" charset="-122"/>
                          <a:cs typeface="Calibri" pitchFamily="34" charset="-120"/>
                        </a:rPr>
                        <a:t>π[i]</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65A82"/>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65A82"/>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65A82"/>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65A82"/>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65A82"/>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65A82"/>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65A82"/>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3639312"/>
            <a:ext cx="6400800" cy="320040"/>
          </a:xfrm>
          <a:prstGeom prst="rect">
            <a:avLst/>
          </a:prstGeom>
          <a:noFill/>
          <a:ln/>
        </p:spPr>
        <p:txBody>
          <a:bodyPr wrap="square" lIns="0" tIns="0" rIns="0" bIns="0" rtlCol="0" anchor="ctr"/>
          <a:lstStyle/>
          <a:p>
            <a:pPr indent="0" marL="0">
              <a:buNone/>
            </a:pPr>
            <a:r>
              <a:rPr lang="en-US" sz="1400" dirty="0">
                <a:solidFill>
                  <a:srgbClr val="1B2430"/>
                </a:solidFill>
                <a:latin typeface="Calibri" pitchFamily="34" charset="0"/>
                <a:ea typeface="Calibri" pitchFamily="34" charset="-122"/>
                <a:cs typeface="Calibri" pitchFamily="34" charset="-120"/>
              </a:rPr>
              <a:t>π[4] = 3  vì  "ababa"  có border dài nhất là  "aba"</a:t>
            </a:r>
            <a:endParaRPr lang="en-US" sz="1400" dirty="0"/>
          </a:p>
        </p:txBody>
      </p:sp>
      <p:sp>
        <p:nvSpPr>
          <p:cNvPr id="8" name="Shape 5"/>
          <p:cNvSpPr/>
          <p:nvPr/>
        </p:nvSpPr>
        <p:spPr>
          <a:xfrm>
            <a:off x="548640" y="4114800"/>
            <a:ext cx="11064240" cy="1371600"/>
          </a:xfrm>
          <a:prstGeom prst="roundRect">
            <a:avLst>
              <a:gd name="adj" fmla="val 5333"/>
            </a:avLst>
          </a:prstGeom>
          <a:solidFill>
            <a:srgbClr val="EEF3F8"/>
          </a:solidFill>
          <a:ln w="12700">
            <a:solidFill>
              <a:srgbClr val="EEF3F8"/>
            </a:solidFill>
            <a:prstDash val="solid"/>
          </a:ln>
        </p:spPr>
      </p:sp>
      <p:sp>
        <p:nvSpPr>
          <p:cNvPr id="9" name="Text 6"/>
          <p:cNvSpPr/>
          <p:nvPr/>
        </p:nvSpPr>
        <p:spPr>
          <a:xfrm>
            <a:off x="868680" y="4251960"/>
            <a:ext cx="5486400" cy="292608"/>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Bổ đề (chuỗi border)</a:t>
            </a:r>
            <a:endParaRPr lang="en-US" sz="1400" dirty="0"/>
          </a:p>
        </p:txBody>
      </p:sp>
      <p:sp>
        <p:nvSpPr>
          <p:cNvPr id="10" name="Text 7"/>
          <p:cNvSpPr/>
          <p:nvPr/>
        </p:nvSpPr>
        <p:spPr>
          <a:xfrm>
            <a:off x="868680" y="4590288"/>
            <a:ext cx="10058400" cy="329184"/>
          </a:xfrm>
          <a:prstGeom prst="rect">
            <a:avLst/>
          </a:prstGeom>
          <a:noFill/>
          <a:ln/>
        </p:spPr>
        <p:txBody>
          <a:bodyPr wrap="square" lIns="0" tIns="0" rIns="0" bIns="0" rtlCol="0" anchor="ctr"/>
          <a:lstStyle/>
          <a:p>
            <a:pPr indent="0" marL="0">
              <a:buNone/>
            </a:pPr>
            <a:r>
              <a:rPr lang="en-US" sz="1600" b="1" dirty="0">
                <a:solidFill>
                  <a:srgbClr val="1B2430"/>
                </a:solidFill>
                <a:latin typeface="Courier New" pitchFamily="34" charset="0"/>
                <a:ea typeface="Courier New" pitchFamily="34" charset="-122"/>
                <a:cs typeface="Courier New" pitchFamily="34" charset="-120"/>
              </a:rPr>
              <a:t>Tập MỌI border của S  =  π[k−1] → π[π[k−1]−1] → … → 0</a:t>
            </a:r>
            <a:endParaRPr lang="en-US" sz="1600" dirty="0"/>
          </a:p>
        </p:txBody>
      </p:sp>
      <p:sp>
        <p:nvSpPr>
          <p:cNvPr id="11" name="Text 8"/>
          <p:cNvSpPr/>
          <p:nvPr/>
        </p:nvSpPr>
        <p:spPr>
          <a:xfrm>
            <a:off x="868680" y="4974336"/>
            <a:ext cx="10515600"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Khi một border độ dài L không dùng được, border tiếp theo dài đúng π[L−1] — ta nhảy thẳng, không thử tuần tự.</a:t>
            </a:r>
            <a:endParaRPr lang="en-US" sz="1300" dirty="0"/>
          </a:p>
        </p:txBody>
      </p:sp>
      <p:sp>
        <p:nvSpPr>
          <p:cNvPr id="12" name="Text 9"/>
          <p:cNvSpPr/>
          <p:nvPr/>
        </p:nvSpPr>
        <p:spPr>
          <a:xfrm>
            <a:off x="11338560" y="6355080"/>
            <a:ext cx="36576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LÝ THUYẾT</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B2430"/>
                </a:solidFill>
                <a:latin typeface="Times New Roman" pitchFamily="34" charset="0"/>
                <a:ea typeface="Times New Roman" pitchFamily="34" charset="-122"/>
                <a:cs typeface="Times New Roman" pitchFamily="34" charset="-120"/>
              </a:rPr>
              <a:t>Vì sao con trỏ văn bản không bao giờ lùi</a:t>
            </a:r>
            <a:endParaRPr lang="en-US" sz="3000" dirty="0"/>
          </a:p>
        </p:txBody>
      </p:sp>
      <p:sp>
        <p:nvSpPr>
          <p:cNvPr id="4" name="Shape 2"/>
          <p:cNvSpPr/>
          <p:nvPr/>
        </p:nvSpPr>
        <p:spPr>
          <a:xfrm>
            <a:off x="548640" y="1481328"/>
            <a:ext cx="11064240" cy="868680"/>
          </a:xfrm>
          <a:prstGeom prst="roundRect">
            <a:avLst>
              <a:gd name="adj" fmla="val 8421"/>
            </a:avLst>
          </a:prstGeom>
          <a:solidFill>
            <a:srgbClr val="EEF3F8"/>
          </a:solidFill>
          <a:ln w="12700">
            <a:solidFill>
              <a:srgbClr val="EEF3F8"/>
            </a:solidFill>
            <a:prstDash val="solid"/>
          </a:ln>
        </p:spPr>
      </p:sp>
      <p:sp>
        <p:nvSpPr>
          <p:cNvPr id="5" name="Text 3"/>
          <p:cNvSpPr/>
          <p:nvPr/>
        </p:nvSpPr>
        <p:spPr>
          <a:xfrm>
            <a:off x="822960" y="1627632"/>
            <a:ext cx="10515600" cy="5943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Bất biến (BB-A): trước khi xử lý T[j], i là độ dài lớn nhất &lt; m sao cho P[0..i−1] là hậu tố của T[0..j−1]</a:t>
            </a:r>
            <a:endParaRPr lang="en-US" sz="1500" dirty="0"/>
          </a:p>
        </p:txBody>
      </p:sp>
      <p:sp>
        <p:nvSpPr>
          <p:cNvPr id="6" name="Text 4"/>
          <p:cNvSpPr/>
          <p:nvPr/>
        </p:nvSpPr>
        <p:spPr>
          <a:xfrm>
            <a:off x="548640" y="2487168"/>
            <a:ext cx="11064240" cy="365760"/>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Trạng thái là MỘT SỐ NGUYÊN duy nhất — không phải một tập vị trí. Đó chính là lý do j không cần lùi.</a:t>
            </a:r>
            <a:endParaRPr lang="en-US" sz="1400" dirty="0"/>
          </a:p>
        </p:txBody>
      </p:sp>
      <p:sp>
        <p:nvSpPr>
          <p:cNvPr id="7" name="Shape 5"/>
          <p:cNvSpPr/>
          <p:nvPr/>
        </p:nvSpPr>
        <p:spPr>
          <a:xfrm>
            <a:off x="548640" y="2944368"/>
            <a:ext cx="11064240" cy="2331720"/>
          </a:xfrm>
          <a:prstGeom prst="roundRect">
            <a:avLst>
              <a:gd name="adj" fmla="val 2353"/>
            </a:avLst>
          </a:prstGeom>
          <a:solidFill>
            <a:srgbClr val="10233A"/>
          </a:solidFill>
          <a:ln w="12700">
            <a:solidFill>
              <a:srgbClr val="10233A"/>
            </a:solidFill>
            <a:prstDash val="solid"/>
          </a:ln>
        </p:spPr>
      </p:sp>
      <p:sp>
        <p:nvSpPr>
          <p:cNvPr id="8" name="Text 6"/>
          <p:cNvSpPr/>
          <p:nvPr/>
        </p:nvSpPr>
        <p:spPr>
          <a:xfrm>
            <a:off x="713232" y="3054096"/>
            <a:ext cx="10735056" cy="2112264"/>
          </a:xfrm>
          <a:prstGeom prst="rect">
            <a:avLst/>
          </a:prstGeom>
          <a:noFill/>
          <a:ln/>
        </p:spPr>
        <p:txBody>
          <a:bodyPr wrap="square" lIns="0" tIns="0" rIns="0" bIns="0" rtlCol="0" anchor="ctr"/>
          <a:lstStyle/>
          <a:p>
            <a:pPr indent="0" marL="0">
              <a:lnSpc>
                <a:spcPts val="1890"/>
              </a:lnSpc>
              <a:buNone/>
            </a:pPr>
            <a:r>
              <a:rPr lang="en-US" sz="1400" dirty="0">
                <a:solidFill>
                  <a:srgbClr val="D7E3F4"/>
                </a:solidFill>
                <a:latin typeface="Courier New" pitchFamily="34" charset="0"/>
                <a:ea typeface="Courier New" pitchFamily="34" charset="-122"/>
                <a:cs typeface="Courier New" pitchFamily="34" charset="-120"/>
              </a:rPr>
              <a:t>for j &lt;- 0 to n-1:</a:t>
            </a:r>
            <a:endParaRPr lang="en-US" sz="1400" dirty="0"/>
          </a:p>
          <a:p>
            <a:pPr indent="0" marL="0">
              <a:lnSpc>
                <a:spcPts val="1890"/>
              </a:lnSpc>
              <a:buNone/>
            </a:pPr>
            <a:r>
              <a:rPr lang="en-US" sz="1400" dirty="0">
                <a:solidFill>
                  <a:srgbClr val="D7E3F4"/>
                </a:solidFill>
                <a:latin typeface="Courier New" pitchFamily="34" charset="0"/>
                <a:ea typeface="Courier New" pitchFamily="34" charset="-122"/>
                <a:cs typeface="Courier New" pitchFamily="34" charset="-120"/>
              </a:rPr>
              <a:t>    while T[j] != P[i] and i &gt; 0:</a:t>
            </a:r>
            <a:endParaRPr lang="en-US" sz="1400" dirty="0"/>
          </a:p>
          <a:p>
            <a:pPr indent="0" marL="0">
              <a:lnSpc>
                <a:spcPts val="1890"/>
              </a:lnSpc>
              <a:buNone/>
            </a:pPr>
            <a:r>
              <a:rPr lang="en-US" sz="1400" dirty="0">
                <a:solidFill>
                  <a:srgbClr val="D7E3F4"/>
                </a:solidFill>
                <a:latin typeface="Courier New" pitchFamily="34" charset="0"/>
                <a:ea typeface="Courier New" pitchFamily="34" charset="-122"/>
                <a:cs typeface="Courier New" pitchFamily="34" charset="-120"/>
              </a:rPr>
              <a:t>        i &lt;- pi[i-1]        # dịch MẪU, j KHÔNG lùi</a:t>
            </a:r>
            <a:endParaRPr lang="en-US" sz="1400" dirty="0"/>
          </a:p>
          <a:p>
            <a:pPr indent="0" marL="0">
              <a:lnSpc>
                <a:spcPts val="1890"/>
              </a:lnSpc>
              <a:buNone/>
            </a:pPr>
            <a:r>
              <a:rPr lang="en-US" sz="1400" dirty="0">
                <a:solidFill>
                  <a:srgbClr val="D7E3F4"/>
                </a:solidFill>
                <a:latin typeface="Courier New" pitchFamily="34" charset="0"/>
                <a:ea typeface="Courier New" pitchFamily="34" charset="-122"/>
                <a:cs typeface="Courier New" pitchFamily="34" charset="-120"/>
              </a:rPr>
              <a:t>    if T[j] = P[i]: i &lt;- i+1</a:t>
            </a:r>
            <a:endParaRPr lang="en-US" sz="1400" dirty="0"/>
          </a:p>
          <a:p>
            <a:pPr indent="0" marL="0">
              <a:lnSpc>
                <a:spcPts val="1890"/>
              </a:lnSpc>
              <a:buNone/>
            </a:pPr>
            <a:r>
              <a:rPr lang="en-US" sz="1400" dirty="0">
                <a:solidFill>
                  <a:srgbClr val="D7E3F4"/>
                </a:solidFill>
                <a:latin typeface="Courier New" pitchFamily="34" charset="0"/>
                <a:ea typeface="Courier New" pitchFamily="34" charset="-122"/>
                <a:cs typeface="Courier New" pitchFamily="34" charset="-120"/>
              </a:rPr>
              <a:t>    if i = m:</a:t>
            </a:r>
            <a:endParaRPr lang="en-US" sz="1400" dirty="0"/>
          </a:p>
          <a:p>
            <a:pPr indent="0" marL="0">
              <a:lnSpc>
                <a:spcPts val="1890"/>
              </a:lnSpc>
              <a:buNone/>
            </a:pPr>
            <a:r>
              <a:rPr lang="en-US" sz="1400" dirty="0">
                <a:solidFill>
                  <a:srgbClr val="D7E3F4"/>
                </a:solidFill>
                <a:latin typeface="Courier New" pitchFamily="34" charset="0"/>
                <a:ea typeface="Courier New" pitchFamily="34" charset="-122"/>
                <a:cs typeface="Courier New" pitchFamily="34" charset="-120"/>
              </a:rPr>
              <a:t>        báo khớp tại j-m+1</a:t>
            </a:r>
            <a:endParaRPr lang="en-US" sz="1400" dirty="0"/>
          </a:p>
          <a:p>
            <a:pPr indent="0" marL="0">
              <a:lnSpc>
                <a:spcPts val="1890"/>
              </a:lnSpc>
              <a:buNone/>
            </a:pPr>
            <a:r>
              <a:rPr lang="en-US" sz="1400" dirty="0">
                <a:solidFill>
                  <a:srgbClr val="D7E3F4"/>
                </a:solidFill>
                <a:latin typeface="Courier New" pitchFamily="34" charset="0"/>
                <a:ea typeface="Courier New" pitchFamily="34" charset="-122"/>
                <a:cs typeface="Courier New" pitchFamily="34" charset="-120"/>
              </a:rPr>
              <a:t>        i &lt;- pi[m-1]        # KHÔNG phải i &lt;- 0 !</a:t>
            </a:r>
            <a:endParaRPr lang="en-US" sz="1400" dirty="0"/>
          </a:p>
        </p:txBody>
      </p:sp>
      <p:sp>
        <p:nvSpPr>
          <p:cNvPr id="9" name="Text 7"/>
          <p:cNvSpPr/>
          <p:nvPr/>
        </p:nvSpPr>
        <p:spPr>
          <a:xfrm>
            <a:off x="11338560" y="6355080"/>
            <a:ext cx="36576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LÝ THUYẾT</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B2430"/>
                </a:solidFill>
                <a:latin typeface="Times New Roman" pitchFamily="34" charset="0"/>
                <a:ea typeface="Times New Roman" pitchFamily="34" charset="-122"/>
                <a:cs typeface="Times New Roman" pitchFamily="34" charset="-120"/>
              </a:rPr>
              <a:t>Dòng quan trọng nhất:  i ← π[m−1]</a:t>
            </a:r>
            <a:endParaRPr lang="en-US" sz="3000" dirty="0"/>
          </a:p>
        </p:txBody>
      </p:sp>
      <p:sp>
        <p:nvSpPr>
          <p:cNvPr id="4" name="Text 2"/>
          <p:cNvSpPr/>
          <p:nvPr/>
        </p:nvSpPr>
        <p:spPr>
          <a:xfrm>
            <a:off x="548640" y="1508760"/>
            <a:ext cx="6400800" cy="365760"/>
          </a:xfrm>
          <a:prstGeom prst="rect">
            <a:avLst/>
          </a:prstGeom>
          <a:noFill/>
          <a:ln/>
        </p:spPr>
        <p:txBody>
          <a:bodyPr wrap="square" lIns="0" tIns="0" rIns="0" bIns="0" rtlCol="0" anchor="ctr"/>
          <a:lstStyle/>
          <a:p>
            <a:pPr indent="0" marL="0">
              <a:buNone/>
            </a:pPr>
            <a:r>
              <a:rPr lang="en-US" sz="1700" b="1" dirty="0">
                <a:solidFill>
                  <a:srgbClr val="065A82"/>
                </a:solidFill>
                <a:latin typeface="Courier New" pitchFamily="34" charset="0"/>
                <a:ea typeface="Courier New" pitchFamily="34" charset="-122"/>
                <a:cs typeface="Courier New" pitchFamily="34" charset="-120"/>
              </a:rPr>
              <a:t>T = "aaaa",   P = "aa",   π = [0, 1]</a:t>
            </a:r>
            <a:endParaRPr lang="en-US" sz="1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1097280"/>
                <a:gridCol w="2743200"/>
                <a:gridCol w="722376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j</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 sau khi xử lý</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Hành động</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r>
              <a:tr h="384048">
                <a:tc>
                  <a:txBody>
                    <a:bodyPr/>
                    <a:lstStyle/>
                    <a:p>
                      <a:pPr algn="l" indent="0" marL="0">
                        <a:buNone/>
                      </a:pPr>
                      <a:r>
                        <a:rPr lang="en-US" sz="1400" dirty="0">
                          <a:solidFill>
                            <a:srgbClr val="1B2430"/>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latin typeface="Calibri" pitchFamily="34" charset="0"/>
                          <a:ea typeface="Calibri" pitchFamily="34" charset="-122"/>
                          <a:cs typeface="Calibri" pitchFamily="34" charset="-120"/>
                        </a:rPr>
                        <a:t>2 = m</a:t>
                      </a:r>
                      <a:endParaRPr lang="en-US" sz="14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latin typeface="Calibri" pitchFamily="34" charset="0"/>
                          <a:ea typeface="Calibri" pitchFamily="34" charset="-122"/>
                          <a:cs typeface="Calibri" pitchFamily="34" charset="-120"/>
                        </a:rPr>
                        <a:t>báo vị trí 0, đặt i ← π[1] = 1</a:t>
                      </a:r>
                      <a:endParaRPr lang="en-US" sz="14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B2430"/>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latin typeface="Calibri" pitchFamily="34" charset="0"/>
                          <a:ea typeface="Calibri" pitchFamily="34" charset="-122"/>
                          <a:cs typeface="Calibri" pitchFamily="34" charset="-120"/>
                        </a:rPr>
                        <a:t>2 = m</a:t>
                      </a:r>
                      <a:endParaRPr lang="en-US" sz="14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latin typeface="Calibri" pitchFamily="34" charset="0"/>
                          <a:ea typeface="Calibri" pitchFamily="34" charset="-122"/>
                          <a:cs typeface="Calibri" pitchFamily="34" charset="-120"/>
                        </a:rPr>
                        <a:t>báo vị trí 1, đặt i ← 1</a:t>
                      </a:r>
                      <a:endParaRPr lang="en-US" sz="14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B2430"/>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latin typeface="Calibri" pitchFamily="34" charset="0"/>
                          <a:ea typeface="Calibri" pitchFamily="34" charset="-122"/>
                          <a:cs typeface="Calibri" pitchFamily="34" charset="-120"/>
                        </a:rPr>
                        <a:t>2 = m</a:t>
                      </a:r>
                      <a:endParaRPr lang="en-US" sz="14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latin typeface="Calibri" pitchFamily="34" charset="0"/>
                          <a:ea typeface="Calibri" pitchFamily="34" charset="-122"/>
                          <a:cs typeface="Calibri" pitchFamily="34" charset="-120"/>
                        </a:rPr>
                        <a:t>báo vị trí 2</a:t>
                      </a:r>
                      <a:endParaRPr lang="en-US" sz="14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3703320"/>
            <a:ext cx="5394960" cy="1828800"/>
          </a:xfrm>
          <a:prstGeom prst="roundRect">
            <a:avLst>
              <a:gd name="adj" fmla="val 4000"/>
            </a:avLst>
          </a:prstGeom>
          <a:solidFill>
            <a:srgbClr val="E6F4EA"/>
          </a:solidFill>
          <a:ln w="12700">
            <a:solidFill>
              <a:srgbClr val="E6F4EA"/>
            </a:solidFill>
            <a:prstDash val="solid"/>
          </a:ln>
        </p:spPr>
      </p:sp>
      <p:sp>
        <p:nvSpPr>
          <p:cNvPr id="7" name="Text 4"/>
          <p:cNvSpPr/>
          <p:nvPr/>
        </p:nvSpPr>
        <p:spPr>
          <a:xfrm>
            <a:off x="822960" y="3931920"/>
            <a:ext cx="4846320" cy="411480"/>
          </a:xfrm>
          <a:prstGeom prst="rect">
            <a:avLst/>
          </a:prstGeom>
          <a:noFill/>
          <a:ln/>
        </p:spPr>
        <p:txBody>
          <a:bodyPr wrap="square" lIns="0" tIns="0" rIns="0" bIns="0" rtlCol="0" anchor="ctr"/>
          <a:lstStyle/>
          <a:p>
            <a:pPr indent="0" marL="0">
              <a:buNone/>
            </a:pPr>
            <a:r>
              <a:rPr lang="en-US" sz="2000" b="1" dirty="0">
                <a:solidFill>
                  <a:srgbClr val="1E7B3C"/>
                </a:solidFill>
                <a:latin typeface="Courier New" pitchFamily="34" charset="0"/>
                <a:ea typeface="Courier New" pitchFamily="34" charset="-122"/>
                <a:cs typeface="Courier New" pitchFamily="34" charset="-120"/>
              </a:rPr>
              <a:t>i ← π[m−1]</a:t>
            </a:r>
            <a:endParaRPr lang="en-US" sz="2000" dirty="0"/>
          </a:p>
        </p:txBody>
      </p:sp>
      <p:sp>
        <p:nvSpPr>
          <p:cNvPr id="8" name="Text 5"/>
          <p:cNvSpPr/>
          <p:nvPr/>
        </p:nvSpPr>
        <p:spPr>
          <a:xfrm>
            <a:off x="822960" y="4462272"/>
            <a:ext cx="4846320" cy="411480"/>
          </a:xfrm>
          <a:prstGeom prst="rect">
            <a:avLst/>
          </a:prstGeom>
          <a:noFill/>
          <a:ln/>
        </p:spPr>
        <p:txBody>
          <a:bodyPr wrap="square" lIns="0" tIns="0" rIns="0" bIns="0" rtlCol="0" anchor="ctr"/>
          <a:lstStyle/>
          <a:p>
            <a:pPr indent="0" marL="0">
              <a:buNone/>
            </a:pPr>
            <a:r>
              <a:rPr lang="en-US" sz="1700" b="1" dirty="0">
                <a:solidFill>
                  <a:srgbClr val="1E7B3C"/>
                </a:solidFill>
                <a:latin typeface="Calibri" pitchFamily="34" charset="0"/>
                <a:ea typeface="Calibri" pitchFamily="34" charset="-122"/>
                <a:cs typeface="Calibri" pitchFamily="34" charset="-120"/>
              </a:rPr>
              <a:t>Kết quả  [0, 1, 2]   ✓  đủ nghiệm</a:t>
            </a:r>
            <a:endParaRPr lang="en-US" sz="1700" dirty="0"/>
          </a:p>
        </p:txBody>
      </p:sp>
      <p:sp>
        <p:nvSpPr>
          <p:cNvPr id="9" name="Text 6"/>
          <p:cNvSpPr/>
          <p:nvPr/>
        </p:nvSpPr>
        <p:spPr>
          <a:xfrm>
            <a:off x="822960" y="4956048"/>
            <a:ext cx="4846320" cy="365760"/>
          </a:xfrm>
          <a:prstGeom prst="rect">
            <a:avLst/>
          </a:prstGeom>
          <a:noFill/>
          <a:ln/>
        </p:spPr>
        <p:txBody>
          <a:bodyPr wrap="square" lIns="0" tIns="0" rIns="0" bIns="0" rtlCol="0" anchor="ctr"/>
          <a:lstStyle/>
          <a:p>
            <a:pPr indent="0" marL="0">
              <a:buNone/>
            </a:pPr>
            <a:r>
              <a:rPr lang="en-US" sz="1200" dirty="0">
                <a:solidFill>
                  <a:srgbClr val="2F6B47"/>
                </a:solidFill>
                <a:latin typeface="Calibri" pitchFamily="34" charset="0"/>
                <a:ea typeface="Calibri" pitchFamily="34" charset="-122"/>
                <a:cs typeface="Calibri" pitchFamily="34" charset="-120"/>
              </a:rPr>
              <a:t>Giữ lại hậu tố dài nhất còn là tiền tố của mẫu</a:t>
            </a:r>
            <a:endParaRPr lang="en-US" sz="1200" dirty="0"/>
          </a:p>
        </p:txBody>
      </p:sp>
      <p:sp>
        <p:nvSpPr>
          <p:cNvPr id="10" name="Shape 7"/>
          <p:cNvSpPr/>
          <p:nvPr/>
        </p:nvSpPr>
        <p:spPr>
          <a:xfrm>
            <a:off x="6217920" y="3703320"/>
            <a:ext cx="5394960" cy="1828800"/>
          </a:xfrm>
          <a:prstGeom prst="roundRect">
            <a:avLst>
              <a:gd name="adj" fmla="val 4000"/>
            </a:avLst>
          </a:prstGeom>
          <a:solidFill>
            <a:srgbClr val="FCE9E6"/>
          </a:solidFill>
          <a:ln w="12700">
            <a:solidFill>
              <a:srgbClr val="FCE9E6"/>
            </a:solidFill>
            <a:prstDash val="solid"/>
          </a:ln>
        </p:spPr>
      </p:sp>
      <p:sp>
        <p:nvSpPr>
          <p:cNvPr id="11" name="Text 8"/>
          <p:cNvSpPr/>
          <p:nvPr/>
        </p:nvSpPr>
        <p:spPr>
          <a:xfrm>
            <a:off x="6492240" y="3931920"/>
            <a:ext cx="4846320" cy="411480"/>
          </a:xfrm>
          <a:prstGeom prst="rect">
            <a:avLst/>
          </a:prstGeom>
          <a:noFill/>
          <a:ln/>
        </p:spPr>
        <p:txBody>
          <a:bodyPr wrap="square" lIns="0" tIns="0" rIns="0" bIns="0" rtlCol="0" anchor="ctr"/>
          <a:lstStyle/>
          <a:p>
            <a:pPr indent="0" marL="0">
              <a:buNone/>
            </a:pPr>
            <a:r>
              <a:rPr lang="en-US" sz="2000" b="1" dirty="0">
                <a:solidFill>
                  <a:srgbClr val="B3261E"/>
                </a:solidFill>
                <a:latin typeface="Courier New" pitchFamily="34" charset="0"/>
                <a:ea typeface="Courier New" pitchFamily="34" charset="-122"/>
                <a:cs typeface="Courier New" pitchFamily="34" charset="-120"/>
              </a:rPr>
              <a:t>i ← 0</a:t>
            </a:r>
            <a:endParaRPr lang="en-US" sz="2000" dirty="0"/>
          </a:p>
        </p:txBody>
      </p:sp>
      <p:sp>
        <p:nvSpPr>
          <p:cNvPr id="12" name="Text 9"/>
          <p:cNvSpPr/>
          <p:nvPr/>
        </p:nvSpPr>
        <p:spPr>
          <a:xfrm>
            <a:off x="6492240" y="4462272"/>
            <a:ext cx="4846320" cy="411480"/>
          </a:xfrm>
          <a:prstGeom prst="rect">
            <a:avLst/>
          </a:prstGeom>
          <a:noFill/>
          <a:ln/>
        </p:spPr>
        <p:txBody>
          <a:bodyPr wrap="square" lIns="0" tIns="0" rIns="0" bIns="0" rtlCol="0" anchor="ctr"/>
          <a:lstStyle/>
          <a:p>
            <a:pPr indent="0" marL="0">
              <a:buNone/>
            </a:pPr>
            <a:r>
              <a:rPr lang="en-US" sz="1700" b="1" dirty="0">
                <a:solidFill>
                  <a:srgbClr val="B3261E"/>
                </a:solidFill>
                <a:latin typeface="Calibri" pitchFamily="34" charset="0"/>
                <a:ea typeface="Calibri" pitchFamily="34" charset="-122"/>
                <a:cs typeface="Calibri" pitchFamily="34" charset="-120"/>
              </a:rPr>
              <a:t>Kết quả  [0, 2]   ✗  MẤT một nghiệm</a:t>
            </a:r>
            <a:endParaRPr lang="en-US" sz="1700" dirty="0"/>
          </a:p>
        </p:txBody>
      </p:sp>
      <p:sp>
        <p:nvSpPr>
          <p:cNvPr id="13" name="Text 10"/>
          <p:cNvSpPr/>
          <p:nvPr/>
        </p:nvSpPr>
        <p:spPr>
          <a:xfrm>
            <a:off x="6492240" y="4956048"/>
            <a:ext cx="4846320" cy="365760"/>
          </a:xfrm>
          <a:prstGeom prst="rect">
            <a:avLst/>
          </a:prstGeom>
          <a:noFill/>
          <a:ln/>
        </p:spPr>
        <p:txBody>
          <a:bodyPr wrap="square" lIns="0" tIns="0" rIns="0" bIns="0" rtlCol="0" anchor="ctr"/>
          <a:lstStyle/>
          <a:p>
            <a:pPr indent="0" marL="0">
              <a:buNone/>
            </a:pPr>
            <a:r>
              <a:rPr lang="en-US" sz="1200" dirty="0">
                <a:solidFill>
                  <a:srgbClr val="8C3B33"/>
                </a:solidFill>
                <a:latin typeface="Calibri" pitchFamily="34" charset="0"/>
                <a:ea typeface="Calibri" pitchFamily="34" charset="-122"/>
                <a:cs typeface="Calibri" pitchFamily="34" charset="-120"/>
              </a:rPr>
              <a:t>Vứt bỏ toàn bộ thông tin đã đọc, phải bắt đầu lại</a:t>
            </a:r>
            <a:endParaRPr lang="en-US" sz="1200" dirty="0"/>
          </a:p>
        </p:txBody>
      </p:sp>
      <p:sp>
        <p:nvSpPr>
          <p:cNvPr id="14" name="Text 11"/>
          <p:cNvSpPr/>
          <p:nvPr/>
        </p:nvSpPr>
        <p:spPr>
          <a:xfrm>
            <a:off x="548640" y="6355080"/>
            <a:ext cx="110642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Lỗi kinh điển. Test đối kháng test_periodic_pattern_with_long_border được viết riêng để bắt lỗi này.</a:t>
            </a:r>
            <a:endParaRPr lang="en-US" sz="950" dirty="0"/>
          </a:p>
        </p:txBody>
      </p:sp>
      <p:sp>
        <p:nvSpPr>
          <p:cNvPr id="15" name="Text 12"/>
          <p:cNvSpPr/>
          <p:nvPr/>
        </p:nvSpPr>
        <p:spPr>
          <a:xfrm>
            <a:off x="11338560" y="6355080"/>
            <a:ext cx="36576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CHỨNG MINH</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B2430"/>
                </a:solidFill>
                <a:latin typeface="Times New Roman" pitchFamily="34" charset="0"/>
                <a:ea typeface="Times New Roman" pitchFamily="34" charset="-122"/>
                <a:cs typeface="Times New Roman" pitchFamily="34" charset="-120"/>
              </a:rPr>
              <a:t>Chặn O(n+m): lập luận khấu hao</a:t>
            </a:r>
            <a:endParaRPr lang="en-US" sz="3000" dirty="0"/>
          </a:p>
        </p:txBody>
      </p:sp>
      <p:sp>
        <p:nvSpPr>
          <p:cNvPr id="4" name="Text 2"/>
          <p:cNvSpPr/>
          <p:nvPr/>
        </p:nvSpPr>
        <p:spPr>
          <a:xfrm>
            <a:off x="548640" y="1481328"/>
            <a:ext cx="10515600" cy="365760"/>
          </a:xfrm>
          <a:prstGeom prst="rect">
            <a:avLst/>
          </a:prstGeom>
          <a:noFill/>
          <a:ln/>
        </p:spPr>
        <p:txBody>
          <a:bodyPr wrap="square" lIns="0" tIns="0" rIns="0" bIns="0" rtlCol="0" anchor="ctr"/>
          <a:lstStyle/>
          <a:p>
            <a:pPr indent="0" marL="0">
              <a:buNone/>
            </a:pPr>
            <a:r>
              <a:rPr lang="en-US" sz="1700" b="1" dirty="0">
                <a:solidFill>
                  <a:srgbClr val="065A82"/>
                </a:solidFill>
                <a:latin typeface="Calibri" pitchFamily="34" charset="0"/>
                <a:ea typeface="Calibri" pitchFamily="34" charset="-122"/>
                <a:cs typeface="Calibri" pitchFamily="34" charset="-120"/>
              </a:rPr>
              <a:t>Định lý.  Số phép so sánh ≤ 2n ở vòng chính,  ≤ 2m khi xây π.</a:t>
            </a:r>
            <a:endParaRPr lang="en-US" sz="1700" dirty="0"/>
          </a:p>
        </p:txBody>
      </p:sp>
      <p:sp>
        <p:nvSpPr>
          <p:cNvPr id="5" name="Text 3"/>
          <p:cNvSpPr/>
          <p:nvPr/>
        </p:nvSpPr>
        <p:spPr>
          <a:xfrm>
            <a:off x="548640" y="1874520"/>
            <a:ext cx="7315200" cy="32004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Chứng minh bằng hàm thế Φ = 2j − i:</a:t>
            </a:r>
            <a:endParaRPr lang="en-US" sz="1400" dirty="0"/>
          </a:p>
        </p:txBody>
      </p:sp>
      <p:sp>
        <p:nvSpPr>
          <p:cNvPr id="6" name="Shape 4"/>
          <p:cNvSpPr/>
          <p:nvPr/>
        </p:nvSpPr>
        <p:spPr>
          <a:xfrm>
            <a:off x="548640" y="2404872"/>
            <a:ext cx="457200" cy="457200"/>
          </a:xfrm>
          <a:prstGeom prst="ellipse">
            <a:avLst/>
          </a:prstGeom>
          <a:solidFill>
            <a:srgbClr val="1E7B3C"/>
          </a:solidFill>
          <a:ln w="12700">
            <a:solidFill>
              <a:srgbClr val="1E7B3C"/>
            </a:solidFill>
            <a:prstDash val="solid"/>
          </a:ln>
        </p:spPr>
      </p:sp>
      <p:sp>
        <p:nvSpPr>
          <p:cNvPr id="7" name="Text 5"/>
          <p:cNvSpPr/>
          <p:nvPr/>
        </p:nvSpPr>
        <p:spPr>
          <a:xfrm>
            <a:off x="548640" y="24048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207008" y="2331720"/>
            <a:ext cx="4206240" cy="329184"/>
          </a:xfrm>
          <a:prstGeom prst="rect">
            <a:avLst/>
          </a:prstGeom>
          <a:noFill/>
          <a:ln/>
        </p:spPr>
        <p:txBody>
          <a:bodyPr wrap="square" lIns="0" tIns="0" rIns="0" bIns="0" rtlCol="0" anchor="ctr"/>
          <a:lstStyle/>
          <a:p>
            <a:pPr indent="0" marL="0">
              <a:buNone/>
            </a:pPr>
            <a:r>
              <a:rPr lang="en-US" sz="1550" b="1" dirty="0">
                <a:solidFill>
                  <a:srgbClr val="1B2430"/>
                </a:solidFill>
                <a:latin typeface="Calibri" pitchFamily="34" charset="0"/>
                <a:ea typeface="Calibri" pitchFamily="34" charset="-122"/>
                <a:cs typeface="Calibri" pitchFamily="34" charset="-120"/>
              </a:rPr>
              <a:t>So sánh THÀNH CÔNG</a:t>
            </a:r>
            <a:endParaRPr lang="en-US" sz="1550" dirty="0"/>
          </a:p>
        </p:txBody>
      </p:sp>
      <p:sp>
        <p:nvSpPr>
          <p:cNvPr id="9" name="Text 7"/>
          <p:cNvSpPr/>
          <p:nvPr/>
        </p:nvSpPr>
        <p:spPr>
          <a:xfrm>
            <a:off x="1207008" y="2697480"/>
            <a:ext cx="7589520" cy="45720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i tăng 1, rồi j tăng  →  không quá n lần</a:t>
            </a:r>
            <a:endParaRPr lang="en-US" sz="1350" dirty="0"/>
          </a:p>
        </p:txBody>
      </p:sp>
      <p:sp>
        <p:nvSpPr>
          <p:cNvPr id="10" name="Shape 8"/>
          <p:cNvSpPr/>
          <p:nvPr/>
        </p:nvSpPr>
        <p:spPr>
          <a:xfrm>
            <a:off x="548640" y="3456432"/>
            <a:ext cx="457200" cy="457200"/>
          </a:xfrm>
          <a:prstGeom prst="ellipse">
            <a:avLst/>
          </a:prstGeom>
          <a:solidFill>
            <a:srgbClr val="E8A33D"/>
          </a:solidFill>
          <a:ln w="12700">
            <a:solidFill>
              <a:srgbClr val="E8A33D"/>
            </a:solidFill>
            <a:prstDash val="solid"/>
          </a:ln>
        </p:spPr>
      </p:sp>
      <p:sp>
        <p:nvSpPr>
          <p:cNvPr id="11" name="Text 9"/>
          <p:cNvSpPr/>
          <p:nvPr/>
        </p:nvSpPr>
        <p:spPr>
          <a:xfrm>
            <a:off x="548640" y="34564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207008" y="3383280"/>
            <a:ext cx="4206240" cy="329184"/>
          </a:xfrm>
          <a:prstGeom prst="rect">
            <a:avLst/>
          </a:prstGeom>
          <a:noFill/>
          <a:ln/>
        </p:spPr>
        <p:txBody>
          <a:bodyPr wrap="square" lIns="0" tIns="0" rIns="0" bIns="0" rtlCol="0" anchor="ctr"/>
          <a:lstStyle/>
          <a:p>
            <a:pPr indent="0" marL="0">
              <a:buNone/>
            </a:pPr>
            <a:r>
              <a:rPr lang="en-US" sz="1550" b="1" dirty="0">
                <a:solidFill>
                  <a:srgbClr val="1B2430"/>
                </a:solidFill>
                <a:latin typeface="Calibri" pitchFamily="34" charset="0"/>
                <a:ea typeface="Calibri" pitchFamily="34" charset="-122"/>
                <a:cs typeface="Calibri" pitchFamily="34" charset="-120"/>
              </a:rPr>
              <a:t>So sánh THẤT BẠI (i &gt; 0)</a:t>
            </a:r>
            <a:endParaRPr lang="en-US" sz="1550" dirty="0"/>
          </a:p>
        </p:txBody>
      </p:sp>
      <p:sp>
        <p:nvSpPr>
          <p:cNvPr id="13" name="Text 11"/>
          <p:cNvSpPr/>
          <p:nvPr/>
        </p:nvSpPr>
        <p:spPr>
          <a:xfrm>
            <a:off x="1207008" y="3749040"/>
            <a:ext cx="7589520" cy="45720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i GIẢM NGẶT vì π[i−1] &lt; i  (border là thật sự)</a:t>
            </a:r>
            <a:endParaRPr lang="en-US" sz="1350" dirty="0"/>
          </a:p>
        </p:txBody>
      </p:sp>
      <p:sp>
        <p:nvSpPr>
          <p:cNvPr id="14" name="Shape 12"/>
          <p:cNvSpPr/>
          <p:nvPr/>
        </p:nvSpPr>
        <p:spPr>
          <a:xfrm>
            <a:off x="548640" y="4507992"/>
            <a:ext cx="457200" cy="457200"/>
          </a:xfrm>
          <a:prstGeom prst="ellipse">
            <a:avLst/>
          </a:prstGeom>
          <a:solidFill>
            <a:srgbClr val="065A82"/>
          </a:solidFill>
          <a:ln w="12700">
            <a:solidFill>
              <a:srgbClr val="065A82"/>
            </a:solidFill>
            <a:prstDash val="solid"/>
          </a:ln>
        </p:spPr>
      </p:sp>
      <p:sp>
        <p:nvSpPr>
          <p:cNvPr id="15" name="Text 13"/>
          <p:cNvSpPr/>
          <p:nvPr/>
        </p:nvSpPr>
        <p:spPr>
          <a:xfrm>
            <a:off x="548640" y="45079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207008" y="4434840"/>
            <a:ext cx="4206240" cy="329184"/>
          </a:xfrm>
          <a:prstGeom prst="rect">
            <a:avLst/>
          </a:prstGeom>
          <a:noFill/>
          <a:ln/>
        </p:spPr>
        <p:txBody>
          <a:bodyPr wrap="square" lIns="0" tIns="0" rIns="0" bIns="0" rtlCol="0" anchor="ctr"/>
          <a:lstStyle/>
          <a:p>
            <a:pPr indent="0" marL="0">
              <a:buNone/>
            </a:pPr>
            <a:r>
              <a:rPr lang="en-US" sz="1550" b="1" dirty="0">
                <a:solidFill>
                  <a:srgbClr val="1B2430"/>
                </a:solidFill>
                <a:latin typeface="Calibri" pitchFamily="34" charset="0"/>
                <a:ea typeface="Calibri" pitchFamily="34" charset="-122"/>
                <a:cs typeface="Calibri" pitchFamily="34" charset="-120"/>
              </a:rPr>
              <a:t>Cân bằng tăng/giảm</a:t>
            </a:r>
            <a:endParaRPr lang="en-US" sz="1550" dirty="0"/>
          </a:p>
        </p:txBody>
      </p:sp>
      <p:sp>
        <p:nvSpPr>
          <p:cNvPr id="17" name="Text 15"/>
          <p:cNvSpPr/>
          <p:nvPr/>
        </p:nvSpPr>
        <p:spPr>
          <a:xfrm>
            <a:off x="1207008" y="4800600"/>
            <a:ext cx="7589520" cy="45720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i chỉ tăng 1 mỗi lần khớp ⇒ tổng tăng ≤ n ⇒ tổng giảm ≤ n</a:t>
            </a:r>
            <a:endParaRPr lang="en-US" sz="1350" dirty="0"/>
          </a:p>
        </p:txBody>
      </p:sp>
      <p:sp>
        <p:nvSpPr>
          <p:cNvPr id="18" name="Shape 16"/>
          <p:cNvSpPr/>
          <p:nvPr/>
        </p:nvSpPr>
        <p:spPr>
          <a:xfrm>
            <a:off x="8778240" y="2331720"/>
            <a:ext cx="2834640" cy="2880360"/>
          </a:xfrm>
          <a:prstGeom prst="roundRect">
            <a:avLst>
              <a:gd name="adj" fmla="val 2581"/>
            </a:avLst>
          </a:prstGeom>
          <a:solidFill>
            <a:srgbClr val="21295C"/>
          </a:solidFill>
          <a:ln w="12700">
            <a:solidFill>
              <a:srgbClr val="21295C"/>
            </a:solidFill>
            <a:prstDash val="solid"/>
          </a:ln>
        </p:spPr>
      </p:sp>
      <p:sp>
        <p:nvSpPr>
          <p:cNvPr id="19" name="Text 17"/>
          <p:cNvSpPr/>
          <p:nvPr/>
        </p:nvSpPr>
        <p:spPr>
          <a:xfrm>
            <a:off x="8778240" y="2971800"/>
            <a:ext cx="2834640" cy="731520"/>
          </a:xfrm>
          <a:prstGeom prst="rect">
            <a:avLst/>
          </a:prstGeom>
          <a:noFill/>
          <a:ln/>
        </p:spPr>
        <p:txBody>
          <a:bodyPr wrap="square" lIns="0" tIns="0" rIns="0" bIns="0" rtlCol="0" anchor="ctr"/>
          <a:lstStyle/>
          <a:p>
            <a:pPr algn="ctr" indent="0" marL="0">
              <a:buNone/>
            </a:pPr>
            <a:r>
              <a:rPr lang="en-US" sz="4600" b="1" dirty="0">
                <a:solidFill>
                  <a:srgbClr val="5BC0BE"/>
                </a:solidFill>
                <a:latin typeface="Times New Roman" pitchFamily="34" charset="0"/>
                <a:ea typeface="Times New Roman" pitchFamily="34" charset="-122"/>
                <a:cs typeface="Times New Roman" pitchFamily="34" charset="-120"/>
              </a:rPr>
              <a:t>≤ 2n</a:t>
            </a:r>
            <a:endParaRPr lang="en-US" sz="4600" dirty="0"/>
          </a:p>
        </p:txBody>
      </p:sp>
      <p:sp>
        <p:nvSpPr>
          <p:cNvPr id="20" name="Text 18"/>
          <p:cNvSpPr/>
          <p:nvPr/>
        </p:nvSpPr>
        <p:spPr>
          <a:xfrm>
            <a:off x="8869680" y="3886200"/>
            <a:ext cx="2651760" cy="320040"/>
          </a:xfrm>
          <a:prstGeom prst="rect">
            <a:avLst/>
          </a:prstGeom>
          <a:noFill/>
          <a:ln/>
        </p:spPr>
        <p:txBody>
          <a:bodyPr wrap="square" lIns="0" tIns="0" rIns="0" bIns="0" rtlCol="0" anchor="ctr"/>
          <a:lstStyle/>
          <a:p>
            <a:pPr algn="ctr" indent="0" marL="0">
              <a:buNone/>
            </a:pPr>
            <a:r>
              <a:rPr lang="en-US" sz="1300" dirty="0">
                <a:solidFill>
                  <a:srgbClr val="9FB3C8"/>
                </a:solidFill>
                <a:latin typeface="Calibri" pitchFamily="34" charset="0"/>
                <a:ea typeface="Calibri" pitchFamily="34" charset="-122"/>
                <a:cs typeface="Calibri" pitchFamily="34" charset="-120"/>
              </a:rPr>
              <a:t>|Σ| KHÔNG xuất hiện</a:t>
            </a:r>
            <a:endParaRPr lang="en-US" sz="1300" dirty="0"/>
          </a:p>
        </p:txBody>
      </p:sp>
      <p:sp>
        <p:nvSpPr>
          <p:cNvPr id="21" name="Text 19"/>
          <p:cNvSpPr/>
          <p:nvPr/>
        </p:nvSpPr>
        <p:spPr>
          <a:xfrm>
            <a:off x="8869680" y="4251960"/>
            <a:ext cx="2651760" cy="320040"/>
          </a:xfrm>
          <a:prstGeom prst="rect">
            <a:avLst/>
          </a:prstGeom>
          <a:noFill/>
          <a:ln/>
        </p:spPr>
        <p:txBody>
          <a:bodyPr wrap="square" lIns="0" tIns="0" rIns="0" bIns="0" rtlCol="0" anchor="ctr"/>
          <a:lstStyle/>
          <a:p>
            <a:pPr algn="ctr" indent="0" marL="0">
              <a:buNone/>
            </a:pPr>
            <a:r>
              <a:rPr lang="en-US" sz="1300" dirty="0">
                <a:solidFill>
                  <a:srgbClr val="9FB3C8"/>
                </a:solidFill>
                <a:latin typeface="Calibri" pitchFamily="34" charset="0"/>
                <a:ea typeface="Calibri" pitchFamily="34" charset="-122"/>
                <a:cs typeface="Calibri" pitchFamily="34" charset="-120"/>
              </a:rPr>
              <a:t>Bộ nhớ phụ O(m)</a:t>
            </a:r>
            <a:endParaRPr lang="en-US" sz="1300" dirty="0"/>
          </a:p>
        </p:txBody>
      </p:sp>
      <p:sp>
        <p:nvSpPr>
          <p:cNvPr id="22" name="Text 20"/>
          <p:cNvSpPr/>
          <p:nvPr/>
        </p:nvSpPr>
        <p:spPr>
          <a:xfrm>
            <a:off x="548640" y="6355080"/>
            <a:ext cx="110642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So với naive O(n·m) — cận của naive cũng chặt trên chính T = aⁿ, P = aᵐ⁻¹b.</a:t>
            </a:r>
            <a:endParaRPr lang="en-US" sz="950" dirty="0"/>
          </a:p>
        </p:txBody>
      </p:sp>
      <p:sp>
        <p:nvSpPr>
          <p:cNvPr id="23" name="Text 21"/>
          <p:cNvSpPr/>
          <p:nvPr/>
        </p:nvSpPr>
        <p:spPr>
          <a:xfrm>
            <a:off x="11338560" y="6355080"/>
            <a:ext cx="36576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LÝ THUYẾT · MODULE B</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B2430"/>
                </a:solidFill>
                <a:latin typeface="Times New Roman" pitchFamily="34" charset="0"/>
                <a:ea typeface="Times New Roman" pitchFamily="34" charset="-122"/>
                <a:cs typeface="Times New Roman" pitchFamily="34" charset="-120"/>
              </a:rPr>
              <a:t>Bốn bất biến của Trie</a:t>
            </a:r>
            <a:endParaRPr lang="en-US" sz="3000" dirty="0"/>
          </a:p>
        </p:txBody>
      </p:sp>
      <p:sp>
        <p:nvSpPr>
          <p:cNvPr id="4" name="Shape 2"/>
          <p:cNvSpPr/>
          <p:nvPr/>
        </p:nvSpPr>
        <p:spPr>
          <a:xfrm>
            <a:off x="548640" y="1600200"/>
            <a:ext cx="685800" cy="502920"/>
          </a:xfrm>
          <a:prstGeom prst="roundRect">
            <a:avLst>
              <a:gd name="adj" fmla="val 14545"/>
            </a:avLst>
          </a:prstGeom>
          <a:solidFill>
            <a:srgbClr val="065A82"/>
          </a:solidFill>
          <a:ln w="12700">
            <a:solidFill>
              <a:srgbClr val="065A82"/>
            </a:solidFill>
            <a:prstDash val="solid"/>
          </a:ln>
        </p:spPr>
      </p:sp>
      <p:sp>
        <p:nvSpPr>
          <p:cNvPr id="5" name="Text 3"/>
          <p:cNvSpPr/>
          <p:nvPr/>
        </p:nvSpPr>
        <p:spPr>
          <a:xfrm>
            <a:off x="548640" y="1600200"/>
            <a:ext cx="6858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I1</a:t>
            </a:r>
            <a:endParaRPr lang="en-US" sz="1600" dirty="0"/>
          </a:p>
        </p:txBody>
      </p:sp>
      <p:sp>
        <p:nvSpPr>
          <p:cNvPr id="6" name="Text 4"/>
          <p:cNvSpPr/>
          <p:nvPr/>
        </p:nvSpPr>
        <p:spPr>
          <a:xfrm>
            <a:off x="1417320" y="1645920"/>
            <a:ext cx="10058400" cy="411480"/>
          </a:xfrm>
          <a:prstGeom prst="rect">
            <a:avLst/>
          </a:prstGeom>
          <a:noFill/>
          <a:ln/>
        </p:spPr>
        <p:txBody>
          <a:bodyPr wrap="square" lIns="0" tIns="0" rIns="0" bIns="0" rtlCol="0" anchor="ctr"/>
          <a:lstStyle/>
          <a:p>
            <a:pPr indent="0" marL="0">
              <a:buNone/>
            </a:pPr>
            <a:r>
              <a:rPr lang="en-US" sz="1500" dirty="0">
                <a:solidFill>
                  <a:srgbClr val="1B2430"/>
                </a:solidFill>
                <a:latin typeface="Calibri" pitchFamily="34" charset="0"/>
                <a:ea typeface="Calibri" pitchFamily="34" charset="-122"/>
                <a:cs typeface="Calibri" pitchFamily="34" charset="-120"/>
              </a:rPr>
              <a:t>Mỗi nút ⟷ ĐÚNG MỘT tiền tố</a:t>
            </a:r>
            <a:endParaRPr lang="en-US" sz="1500" dirty="0"/>
          </a:p>
        </p:txBody>
      </p:sp>
      <p:sp>
        <p:nvSpPr>
          <p:cNvPr id="7" name="Shape 5"/>
          <p:cNvSpPr/>
          <p:nvPr/>
        </p:nvSpPr>
        <p:spPr>
          <a:xfrm>
            <a:off x="548640" y="2258568"/>
            <a:ext cx="685800" cy="502920"/>
          </a:xfrm>
          <a:prstGeom prst="roundRect">
            <a:avLst>
              <a:gd name="adj" fmla="val 14545"/>
            </a:avLst>
          </a:prstGeom>
          <a:solidFill>
            <a:srgbClr val="1C7293"/>
          </a:solidFill>
          <a:ln w="12700">
            <a:solidFill>
              <a:srgbClr val="1C7293"/>
            </a:solidFill>
            <a:prstDash val="solid"/>
          </a:ln>
        </p:spPr>
      </p:sp>
      <p:sp>
        <p:nvSpPr>
          <p:cNvPr id="8" name="Text 6"/>
          <p:cNvSpPr/>
          <p:nvPr/>
        </p:nvSpPr>
        <p:spPr>
          <a:xfrm>
            <a:off x="548640" y="2258568"/>
            <a:ext cx="6858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I2</a:t>
            </a:r>
            <a:endParaRPr lang="en-US" sz="1600" dirty="0"/>
          </a:p>
        </p:txBody>
      </p:sp>
      <p:sp>
        <p:nvSpPr>
          <p:cNvPr id="9" name="Text 7"/>
          <p:cNvSpPr/>
          <p:nvPr/>
        </p:nvSpPr>
        <p:spPr>
          <a:xfrm>
            <a:off x="1417320" y="2304288"/>
            <a:ext cx="10058400" cy="411480"/>
          </a:xfrm>
          <a:prstGeom prst="rect">
            <a:avLst/>
          </a:prstGeom>
          <a:noFill/>
          <a:ln/>
        </p:spPr>
        <p:txBody>
          <a:bodyPr wrap="square" lIns="0" tIns="0" rIns="0" bIns="0" rtlCol="0" anchor="ctr"/>
          <a:lstStyle/>
          <a:p>
            <a:pPr indent="0" marL="0">
              <a:buNone/>
            </a:pPr>
            <a:r>
              <a:rPr lang="en-US" sz="1500" dirty="0">
                <a:solidFill>
                  <a:srgbClr val="1B2430"/>
                </a:solidFill>
                <a:latin typeface="Calibri" pitchFamily="34" charset="0"/>
                <a:ea typeface="Calibri" pitchFamily="34" charset="-122"/>
                <a:cs typeface="Calibri" pitchFamily="34" charset="-120"/>
              </a:rPr>
              <a:t>is_end ⟺ tiền tố đó là một từ trong D</a:t>
            </a:r>
            <a:endParaRPr lang="en-US" sz="1500" dirty="0"/>
          </a:p>
        </p:txBody>
      </p:sp>
      <p:sp>
        <p:nvSpPr>
          <p:cNvPr id="10" name="Shape 8"/>
          <p:cNvSpPr/>
          <p:nvPr/>
        </p:nvSpPr>
        <p:spPr>
          <a:xfrm>
            <a:off x="548640" y="2916936"/>
            <a:ext cx="685800" cy="502920"/>
          </a:xfrm>
          <a:prstGeom prst="roundRect">
            <a:avLst>
              <a:gd name="adj" fmla="val 14545"/>
            </a:avLst>
          </a:prstGeom>
          <a:solidFill>
            <a:srgbClr val="1C7293"/>
          </a:solidFill>
          <a:ln w="12700">
            <a:solidFill>
              <a:srgbClr val="1C7293"/>
            </a:solidFill>
            <a:prstDash val="solid"/>
          </a:ln>
        </p:spPr>
      </p:sp>
      <p:sp>
        <p:nvSpPr>
          <p:cNvPr id="11" name="Text 9"/>
          <p:cNvSpPr/>
          <p:nvPr/>
        </p:nvSpPr>
        <p:spPr>
          <a:xfrm>
            <a:off x="548640" y="2916936"/>
            <a:ext cx="6858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I3</a:t>
            </a:r>
            <a:endParaRPr lang="en-US" sz="1600" dirty="0"/>
          </a:p>
        </p:txBody>
      </p:sp>
      <p:sp>
        <p:nvSpPr>
          <p:cNvPr id="12" name="Text 10"/>
          <p:cNvSpPr/>
          <p:nvPr/>
        </p:nvSpPr>
        <p:spPr>
          <a:xfrm>
            <a:off x="1417320" y="2962656"/>
            <a:ext cx="10058400" cy="411480"/>
          </a:xfrm>
          <a:prstGeom prst="rect">
            <a:avLst/>
          </a:prstGeom>
          <a:noFill/>
          <a:ln/>
        </p:spPr>
        <p:txBody>
          <a:bodyPr wrap="square" lIns="0" tIns="0" rIns="0" bIns="0" rtlCol="0" anchor="ctr"/>
          <a:lstStyle/>
          <a:p>
            <a:pPr indent="0" marL="0">
              <a:buNone/>
            </a:pPr>
            <a:r>
              <a:rPr lang="en-US" sz="1500" dirty="0">
                <a:solidFill>
                  <a:srgbClr val="1B2430"/>
                </a:solidFill>
                <a:latin typeface="Calibri" pitchFamily="34" charset="0"/>
                <a:ea typeface="Calibri" pitchFamily="34" charset="-122"/>
                <a:cs typeface="Calibri" pitchFamily="34" charset="-120"/>
              </a:rPr>
              <a:t>word_count = số lần từ đó đã insert</a:t>
            </a:r>
            <a:endParaRPr lang="en-US" sz="1500" dirty="0"/>
          </a:p>
        </p:txBody>
      </p:sp>
      <p:sp>
        <p:nvSpPr>
          <p:cNvPr id="13" name="Shape 11"/>
          <p:cNvSpPr/>
          <p:nvPr/>
        </p:nvSpPr>
        <p:spPr>
          <a:xfrm>
            <a:off x="548640" y="3575304"/>
            <a:ext cx="685800" cy="502920"/>
          </a:xfrm>
          <a:prstGeom prst="roundRect">
            <a:avLst>
              <a:gd name="adj" fmla="val 14545"/>
            </a:avLst>
          </a:prstGeom>
          <a:solidFill>
            <a:srgbClr val="E8A33D"/>
          </a:solidFill>
          <a:ln w="12700">
            <a:solidFill>
              <a:srgbClr val="E8A33D"/>
            </a:solidFill>
            <a:prstDash val="solid"/>
          </a:ln>
        </p:spPr>
      </p:sp>
      <p:sp>
        <p:nvSpPr>
          <p:cNvPr id="14" name="Text 12"/>
          <p:cNvSpPr/>
          <p:nvPr/>
        </p:nvSpPr>
        <p:spPr>
          <a:xfrm>
            <a:off x="548640" y="3575304"/>
            <a:ext cx="6858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I4</a:t>
            </a:r>
            <a:endParaRPr lang="en-US" sz="1600" dirty="0"/>
          </a:p>
        </p:txBody>
      </p:sp>
      <p:sp>
        <p:nvSpPr>
          <p:cNvPr id="15" name="Text 13"/>
          <p:cNvSpPr/>
          <p:nvPr/>
        </p:nvSpPr>
        <p:spPr>
          <a:xfrm>
            <a:off x="1417320" y="3621024"/>
            <a:ext cx="10058400" cy="411480"/>
          </a:xfrm>
          <a:prstGeom prst="rect">
            <a:avLst/>
          </a:prstGeom>
          <a:noFill/>
          <a:ln/>
        </p:spPr>
        <p:txBody>
          <a:bodyPr wrap="square" lIns="0" tIns="0" rIns="0" bIns="0" rtlCol="0" anchor="ctr"/>
          <a:lstStyle/>
          <a:p>
            <a:pPr indent="0" marL="0">
              <a:buNone/>
            </a:pPr>
            <a:r>
              <a:rPr lang="en-US" sz="1500" dirty="0">
                <a:solidFill>
                  <a:srgbClr val="1B2430"/>
                </a:solidFill>
                <a:latin typeface="Calibri" pitchFamily="34" charset="0"/>
                <a:ea typeface="Calibri" pitchFamily="34" charset="-122"/>
                <a:cs typeface="Calibri" pitchFamily="34" charset="-120"/>
              </a:rPr>
              <a:t>prefix_count = tổng word_count của CẢ CÂY CON</a:t>
            </a:r>
            <a:endParaRPr lang="en-US" sz="1500" dirty="0"/>
          </a:p>
        </p:txBody>
      </p:sp>
      <p:sp>
        <p:nvSpPr>
          <p:cNvPr id="16" name="Shape 14"/>
          <p:cNvSpPr/>
          <p:nvPr/>
        </p:nvSpPr>
        <p:spPr>
          <a:xfrm>
            <a:off x="548640" y="4343400"/>
            <a:ext cx="5394960" cy="1234440"/>
          </a:xfrm>
          <a:prstGeom prst="roundRect">
            <a:avLst>
              <a:gd name="adj" fmla="val 5926"/>
            </a:avLst>
          </a:prstGeom>
          <a:solidFill>
            <a:srgbClr val="EEF3F8"/>
          </a:solidFill>
          <a:ln w="12700">
            <a:solidFill>
              <a:srgbClr val="EEF3F8"/>
            </a:solidFill>
            <a:prstDash val="solid"/>
          </a:ln>
        </p:spPr>
      </p:sp>
      <p:sp>
        <p:nvSpPr>
          <p:cNvPr id="17" name="Text 15"/>
          <p:cNvSpPr/>
          <p:nvPr/>
        </p:nvSpPr>
        <p:spPr>
          <a:xfrm>
            <a:off x="822960" y="4480560"/>
            <a:ext cx="4846320" cy="32004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I1  ⇒  chia sẻ tiền tố</a:t>
            </a:r>
            <a:endParaRPr lang="en-US" sz="1400" dirty="0"/>
          </a:p>
        </p:txBody>
      </p:sp>
      <p:sp>
        <p:nvSpPr>
          <p:cNvPr id="18" name="Text 16"/>
          <p:cNvSpPr/>
          <p:nvPr/>
        </p:nvSpPr>
        <p:spPr>
          <a:xfrm>
            <a:off x="822960" y="4800600"/>
            <a:ext cx="4846320" cy="64008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Bộ nhớ tỉ lệ số tiền tố PHÂN BIỆT, không phải tổng độ dài các từ. Đo được 0,31–0,82 nút mỗi ký tự.</a:t>
            </a:r>
            <a:endParaRPr lang="en-US" sz="1250" dirty="0"/>
          </a:p>
        </p:txBody>
      </p:sp>
      <p:sp>
        <p:nvSpPr>
          <p:cNvPr id="19" name="Shape 17"/>
          <p:cNvSpPr/>
          <p:nvPr/>
        </p:nvSpPr>
        <p:spPr>
          <a:xfrm>
            <a:off x="6217920" y="4343400"/>
            <a:ext cx="5394960" cy="1234440"/>
          </a:xfrm>
          <a:prstGeom prst="roundRect">
            <a:avLst>
              <a:gd name="adj" fmla="val 5926"/>
            </a:avLst>
          </a:prstGeom>
          <a:solidFill>
            <a:srgbClr val="EEF3F8"/>
          </a:solidFill>
          <a:ln w="12700">
            <a:solidFill>
              <a:srgbClr val="EEF3F8"/>
            </a:solidFill>
            <a:prstDash val="solid"/>
          </a:ln>
        </p:spPr>
      </p:sp>
      <p:sp>
        <p:nvSpPr>
          <p:cNvPr id="20" name="Text 18"/>
          <p:cNvSpPr/>
          <p:nvPr/>
        </p:nvSpPr>
        <p:spPr>
          <a:xfrm>
            <a:off x="6492240" y="4480560"/>
            <a:ext cx="4846320" cy="320040"/>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I4  ⇒  đếm trong O(|q|)</a:t>
            </a:r>
            <a:endParaRPr lang="en-US" sz="1400" dirty="0"/>
          </a:p>
        </p:txBody>
      </p:sp>
      <p:sp>
        <p:nvSpPr>
          <p:cNvPr id="21" name="Text 19"/>
          <p:cNvSpPr/>
          <p:nvPr/>
        </p:nvSpPr>
        <p:spPr>
          <a:xfrm>
            <a:off x="6492240" y="4800600"/>
            <a:ext cx="4846320" cy="64008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“Có bao nhiêu từ mang tiền tố q?” không cần duyệt cây con. Demo hiển thị “8 / 2 513 kết quả” nhờ đúng bất biến này.</a:t>
            </a:r>
            <a:endParaRPr lang="en-US" sz="1250" dirty="0"/>
          </a:p>
        </p:txBody>
      </p:sp>
      <p:sp>
        <p:nvSpPr>
          <p:cNvPr id="22" name="Text 20"/>
          <p:cNvSpPr/>
          <p:nvPr/>
        </p:nvSpPr>
        <p:spPr>
          <a:xfrm>
            <a:off x="11338560" y="6355080"/>
            <a:ext cx="36576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LÝ THUYẾT · MODULE B</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B2430"/>
                </a:solidFill>
                <a:latin typeface="Times New Roman" pitchFamily="34" charset="0"/>
                <a:ea typeface="Times New Roman" pitchFamily="34" charset="-122"/>
                <a:cs typeface="Times New Roman" pitchFamily="34" charset="-120"/>
              </a:rPr>
              <a:t>autocomplete: DFS dừng sớm</a:t>
            </a:r>
            <a:endParaRPr lang="en-US" sz="3000" dirty="0"/>
          </a:p>
        </p:txBody>
      </p:sp>
      <p:sp>
        <p:nvSpPr>
          <p:cNvPr id="4" name="Shape 2"/>
          <p:cNvSpPr/>
          <p:nvPr/>
        </p:nvSpPr>
        <p:spPr>
          <a:xfrm>
            <a:off x="548640" y="1554480"/>
            <a:ext cx="6675120" cy="2468880"/>
          </a:xfrm>
          <a:prstGeom prst="roundRect">
            <a:avLst>
              <a:gd name="adj" fmla="val 2222"/>
            </a:avLst>
          </a:prstGeom>
          <a:solidFill>
            <a:srgbClr val="10233A"/>
          </a:solidFill>
          <a:ln w="12700">
            <a:solidFill>
              <a:srgbClr val="10233A"/>
            </a:solidFill>
            <a:prstDash val="solid"/>
          </a:ln>
        </p:spPr>
      </p:sp>
      <p:sp>
        <p:nvSpPr>
          <p:cNvPr id="5" name="Text 3"/>
          <p:cNvSpPr/>
          <p:nvPr/>
        </p:nvSpPr>
        <p:spPr>
          <a:xfrm>
            <a:off x="713232" y="1664208"/>
            <a:ext cx="6345936" cy="2249424"/>
          </a:xfrm>
          <a:prstGeom prst="rect">
            <a:avLst/>
          </a:prstGeom>
          <a:noFill/>
          <a:ln/>
        </p:spPr>
        <p:txBody>
          <a:bodyPr wrap="square" lIns="0" tIns="0" rIns="0" bIns="0" rtlCol="0" anchor="ctr"/>
          <a:lstStyle/>
          <a:p>
            <a:pPr indent="0" marL="0">
              <a:lnSpc>
                <a:spcPts val="1620"/>
              </a:lnSpc>
              <a:buNone/>
            </a:pPr>
            <a:r>
              <a:rPr lang="en-US" sz="1200" dirty="0">
                <a:solidFill>
                  <a:srgbClr val="D7E3F4"/>
                </a:solidFill>
                <a:latin typeface="Courier New" pitchFamily="34" charset="0"/>
                <a:ea typeface="Courier New" pitchFamily="34" charset="-122"/>
                <a:cs typeface="Courier New" pitchFamily="34" charset="-120"/>
              </a:rPr>
              <a:t>path &lt;- list(q); stack &lt;- [FRAME(node_q)]</a:t>
            </a:r>
            <a:endParaRPr lang="en-US" sz="1200" dirty="0"/>
          </a:p>
          <a:p>
            <a:pPr indent="0" marL="0">
              <a:lnSpc>
                <a:spcPts val="1620"/>
              </a:lnSpc>
              <a:buNone/>
            </a:pPr>
            <a:r>
              <a:rPr lang="en-US" sz="1200" dirty="0">
                <a:solidFill>
                  <a:srgbClr val="D7E3F4"/>
                </a:solidFill>
                <a:latin typeface="Courier New" pitchFamily="34" charset="0"/>
                <a:ea typeface="Courier New" pitchFamily="34" charset="-122"/>
                <a:cs typeface="Courier New" pitchFamily="34" charset="-120"/>
              </a:rPr>
              <a:t>while stack khác rỗng:</a:t>
            </a:r>
            <a:endParaRPr lang="en-US" sz="1200" dirty="0"/>
          </a:p>
          <a:p>
            <a:pPr indent="0" marL="0">
              <a:lnSpc>
                <a:spcPts val="1620"/>
              </a:lnSpc>
              <a:buNone/>
            </a:pPr>
            <a:r>
              <a:rPr lang="en-US" sz="1200" dirty="0">
                <a:solidFill>
                  <a:srgbClr val="D7E3F4"/>
                </a:solidFill>
                <a:latin typeface="Courier New" pitchFamily="34" charset="0"/>
                <a:ea typeface="Courier New" pitchFamily="34" charset="-122"/>
                <a:cs typeface="Courier New" pitchFamily="34" charset="-120"/>
              </a:rPr>
              <a:t>    u &lt;- frame hiện tại</a:t>
            </a:r>
            <a:endParaRPr lang="en-US" sz="1200" dirty="0"/>
          </a:p>
          <a:p>
            <a:pPr indent="0" marL="0">
              <a:lnSpc>
                <a:spcPts val="1620"/>
              </a:lnSpc>
              <a:buNone/>
            </a:pPr>
            <a:r>
              <a:rPr lang="en-US" sz="1200" dirty="0">
                <a:solidFill>
                  <a:srgbClr val="D7E3F4"/>
                </a:solidFill>
                <a:latin typeface="Courier New" pitchFamily="34" charset="0"/>
                <a:ea typeface="Courier New" pitchFamily="34" charset="-122"/>
                <a:cs typeface="Courier New" pitchFamily="34" charset="-120"/>
              </a:rPr>
              <a:t>    if u.is_end:</a:t>
            </a:r>
            <a:endParaRPr lang="en-US" sz="1200" dirty="0"/>
          </a:p>
          <a:p>
            <a:pPr indent="0" marL="0">
              <a:lnSpc>
                <a:spcPts val="1620"/>
              </a:lnSpc>
              <a:buNone/>
            </a:pPr>
            <a:r>
              <a:rPr lang="en-US" sz="1200" dirty="0">
                <a:solidFill>
                  <a:srgbClr val="D7E3F4"/>
                </a:solidFill>
                <a:latin typeface="Courier New" pitchFamily="34" charset="0"/>
                <a:ea typeface="Courier New" pitchFamily="34" charset="-122"/>
                <a:cs typeface="Courier New" pitchFamily="34" charset="-120"/>
              </a:rPr>
              <a:t>        if |out| = k:</a:t>
            </a:r>
            <a:endParaRPr lang="en-US" sz="1200" dirty="0"/>
          </a:p>
          <a:p>
            <a:pPr indent="0" marL="0">
              <a:lnSpc>
                <a:spcPts val="1620"/>
              </a:lnSpc>
              <a:buNone/>
            </a:pPr>
            <a:r>
              <a:rPr lang="en-US" sz="1200" dirty="0">
                <a:solidFill>
                  <a:srgbClr val="D7E3F4"/>
                </a:solidFill>
                <a:latin typeface="Courier New" pitchFamily="34" charset="0"/>
                <a:ea typeface="Courier New" pitchFamily="34" charset="-122"/>
                <a:cs typeface="Courier New" pitchFamily="34" charset="-120"/>
              </a:rPr>
              <a:t>            truncated &lt;- true; BREAK   # dừng sớm</a:t>
            </a:r>
            <a:endParaRPr lang="en-US" sz="1200" dirty="0"/>
          </a:p>
          <a:p>
            <a:pPr indent="0" marL="0">
              <a:lnSpc>
                <a:spcPts val="1620"/>
              </a:lnSpc>
              <a:buNone/>
            </a:pPr>
            <a:r>
              <a:rPr lang="en-US" sz="1200" dirty="0">
                <a:solidFill>
                  <a:srgbClr val="D7E3F4"/>
                </a:solidFill>
                <a:latin typeface="Courier New" pitchFamily="34" charset="0"/>
                <a:ea typeface="Courier New" pitchFamily="34" charset="-122"/>
                <a:cs typeface="Courier New" pitchFamily="34" charset="-120"/>
              </a:rPr>
              <a:t>        out.append(join(path))</a:t>
            </a:r>
            <a:endParaRPr lang="en-US" sz="1200" dirty="0"/>
          </a:p>
          <a:p>
            <a:pPr indent="0" marL="0">
              <a:lnSpc>
                <a:spcPts val="1620"/>
              </a:lnSpc>
              <a:buNone/>
            </a:pPr>
            <a:r>
              <a:rPr lang="en-US" sz="1200" dirty="0">
                <a:solidFill>
                  <a:srgbClr val="D7E3F4"/>
                </a:solidFill>
                <a:latin typeface="Courier New" pitchFamily="34" charset="0"/>
                <a:ea typeface="Courier New" pitchFamily="34" charset="-122"/>
                <a:cs typeface="Courier New" pitchFamily="34" charset="-120"/>
              </a:rPr>
              <a:t>    lấy cạnh tiếp theo theo thứ tự TĂNG; push FRAME(con)</a:t>
            </a:r>
            <a:endParaRPr lang="en-US" sz="1200" dirty="0"/>
          </a:p>
        </p:txBody>
      </p:sp>
      <p:sp>
        <p:nvSpPr>
          <p:cNvPr id="6" name="Shape 4"/>
          <p:cNvSpPr/>
          <p:nvPr/>
        </p:nvSpPr>
        <p:spPr>
          <a:xfrm>
            <a:off x="7498080" y="1636776"/>
            <a:ext cx="274320" cy="274320"/>
          </a:xfrm>
          <a:prstGeom prst="ellipse">
            <a:avLst/>
          </a:prstGeom>
          <a:solidFill>
            <a:srgbClr val="5BC0BE"/>
          </a:solidFill>
          <a:ln w="12700">
            <a:solidFill>
              <a:srgbClr val="5BC0BE"/>
            </a:solidFill>
            <a:prstDash val="solid"/>
          </a:ln>
        </p:spPr>
      </p:sp>
      <p:sp>
        <p:nvSpPr>
          <p:cNvPr id="7" name="Text 5"/>
          <p:cNvSpPr/>
          <p:nvPr/>
        </p:nvSpPr>
        <p:spPr>
          <a:xfrm>
            <a:off x="7909560" y="1581912"/>
            <a:ext cx="3749040" cy="310896"/>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Thứ tự XÁC ĐỊNH</a:t>
            </a:r>
            <a:endParaRPr lang="en-US" sz="1350" dirty="0"/>
          </a:p>
        </p:txBody>
      </p:sp>
      <p:sp>
        <p:nvSpPr>
          <p:cNvPr id="8" name="Text 6"/>
          <p:cNvSpPr/>
          <p:nvPr/>
        </p:nvSpPr>
        <p:spPr>
          <a:xfrm>
            <a:off x="7909560" y="1874520"/>
            <a:ext cx="3840480" cy="5029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thứ tự từ điển ⇒ đối chiếu được với baseline</a:t>
            </a:r>
            <a:endParaRPr lang="en-US" sz="1200" dirty="0"/>
          </a:p>
        </p:txBody>
      </p:sp>
      <p:sp>
        <p:nvSpPr>
          <p:cNvPr id="9" name="Shape 7"/>
          <p:cNvSpPr/>
          <p:nvPr/>
        </p:nvSpPr>
        <p:spPr>
          <a:xfrm>
            <a:off x="7498080" y="2478024"/>
            <a:ext cx="274320" cy="274320"/>
          </a:xfrm>
          <a:prstGeom prst="ellipse">
            <a:avLst/>
          </a:prstGeom>
          <a:solidFill>
            <a:srgbClr val="5BC0BE"/>
          </a:solidFill>
          <a:ln w="12700">
            <a:solidFill>
              <a:srgbClr val="5BC0BE"/>
            </a:solidFill>
            <a:prstDash val="solid"/>
          </a:ln>
        </p:spPr>
      </p:sp>
      <p:sp>
        <p:nvSpPr>
          <p:cNvPr id="10" name="Text 8"/>
          <p:cNvSpPr/>
          <p:nvPr/>
        </p:nvSpPr>
        <p:spPr>
          <a:xfrm>
            <a:off x="7909560" y="2423160"/>
            <a:ext cx="3749040" cy="310896"/>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Stack tường minh</a:t>
            </a:r>
            <a:endParaRPr lang="en-US" sz="1350" dirty="0"/>
          </a:p>
        </p:txBody>
      </p:sp>
      <p:sp>
        <p:nvSpPr>
          <p:cNvPr id="11" name="Text 9"/>
          <p:cNvSpPr/>
          <p:nvPr/>
        </p:nvSpPr>
        <p:spPr>
          <a:xfrm>
            <a:off x="7909560" y="2715768"/>
            <a:ext cx="3840480" cy="5029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không đệ quy ⇒ chạy được với từ 50 000 ký tự</a:t>
            </a:r>
            <a:endParaRPr lang="en-US" sz="1200" dirty="0"/>
          </a:p>
        </p:txBody>
      </p:sp>
      <p:sp>
        <p:nvSpPr>
          <p:cNvPr id="12" name="Shape 10"/>
          <p:cNvSpPr/>
          <p:nvPr/>
        </p:nvSpPr>
        <p:spPr>
          <a:xfrm>
            <a:off x="7498080" y="3319272"/>
            <a:ext cx="274320" cy="274320"/>
          </a:xfrm>
          <a:prstGeom prst="ellipse">
            <a:avLst/>
          </a:prstGeom>
          <a:solidFill>
            <a:srgbClr val="5BC0BE"/>
          </a:solidFill>
          <a:ln w="12700">
            <a:solidFill>
              <a:srgbClr val="5BC0BE"/>
            </a:solidFill>
            <a:prstDash val="solid"/>
          </a:ln>
        </p:spPr>
      </p:sp>
      <p:sp>
        <p:nvSpPr>
          <p:cNvPr id="13" name="Text 11"/>
          <p:cNvSpPr/>
          <p:nvPr/>
        </p:nvSpPr>
        <p:spPr>
          <a:xfrm>
            <a:off x="7909560" y="3264408"/>
            <a:ext cx="3749040" cy="310896"/>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Cờ truncated chính xác</a:t>
            </a:r>
            <a:endParaRPr lang="en-US" sz="1350" dirty="0"/>
          </a:p>
        </p:txBody>
      </p:sp>
      <p:sp>
        <p:nvSpPr>
          <p:cNvPr id="14" name="Text 12"/>
          <p:cNvSpPr/>
          <p:nvPr/>
        </p:nvSpPr>
        <p:spPr>
          <a:xfrm>
            <a:off x="7909560" y="3557016"/>
            <a:ext cx="3840480" cy="5029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false ⇒ đã trả HẾT kết quả</a:t>
            </a:r>
            <a:endParaRPr lang="en-US" sz="1200" dirty="0"/>
          </a:p>
        </p:txBody>
      </p:sp>
      <p:sp>
        <p:nvSpPr>
          <p:cNvPr id="15" name="Shape 13"/>
          <p:cNvSpPr/>
          <p:nvPr/>
        </p:nvSpPr>
        <p:spPr>
          <a:xfrm>
            <a:off x="548640" y="4224528"/>
            <a:ext cx="11064240" cy="1234440"/>
          </a:xfrm>
          <a:prstGeom prst="roundRect">
            <a:avLst>
              <a:gd name="adj" fmla="val 5926"/>
            </a:avLst>
          </a:prstGeom>
          <a:solidFill>
            <a:srgbClr val="21295C"/>
          </a:solidFill>
          <a:ln w="12700">
            <a:solidFill>
              <a:srgbClr val="21295C"/>
            </a:solidFill>
            <a:prstDash val="solid"/>
          </a:ln>
        </p:spPr>
      </p:sp>
      <p:sp>
        <p:nvSpPr>
          <p:cNvPr id="16" name="Text 14"/>
          <p:cNvSpPr/>
          <p:nvPr/>
        </p:nvSpPr>
        <p:spPr>
          <a:xfrm>
            <a:off x="868680" y="4389120"/>
            <a:ext cx="10515600" cy="411480"/>
          </a:xfrm>
          <a:prstGeom prst="rect">
            <a:avLst/>
          </a:prstGeom>
          <a:noFill/>
          <a:ln/>
        </p:spPr>
        <p:txBody>
          <a:bodyPr wrap="square" lIns="0" tIns="0" rIns="0" bIns="0" rtlCol="0" anchor="ctr"/>
          <a:lstStyle/>
          <a:p>
            <a:pPr indent="0" marL="0">
              <a:buNone/>
            </a:pPr>
            <a:r>
              <a:rPr lang="en-US" sz="1700" b="1" dirty="0">
                <a:solidFill>
                  <a:srgbClr val="5BC0BE"/>
                </a:solidFill>
                <a:latin typeface="Calibri" pitchFamily="34" charset="0"/>
                <a:ea typeface="Calibri" pitchFamily="34" charset="-122"/>
                <a:cs typeface="Calibri" pitchFamily="34" charset="-120"/>
              </a:rPr>
              <a:t>Đo thực tế: cây con có 2 513 từ,  k = 1  ⇒  duyệt 6 nút  (0,08 % cây con)</a:t>
            </a:r>
            <a:endParaRPr lang="en-US" sz="1700" dirty="0"/>
          </a:p>
        </p:txBody>
      </p:sp>
      <p:sp>
        <p:nvSpPr>
          <p:cNvPr id="17" name="Text 15"/>
          <p:cNvSpPr/>
          <p:nvPr/>
        </p:nvSpPr>
        <p:spPr>
          <a:xfrm>
            <a:off x="868680" y="4800600"/>
            <a:ext cx="10515600" cy="457200"/>
          </a:xfrm>
          <a:prstGeom prst="rect">
            <a:avLst/>
          </a:prstGeom>
          <a:noFill/>
          <a:ln/>
        </p:spPr>
        <p:txBody>
          <a:bodyPr wrap="square" lIns="0" tIns="0" rIns="0" bIns="0" rtlCol="0" anchor="ctr"/>
          <a:lstStyle/>
          <a:p>
            <a:pPr indent="0" marL="0">
              <a:buNone/>
            </a:pPr>
            <a:r>
              <a:rPr lang="en-US" sz="1250" dirty="0">
                <a:solidFill>
                  <a:srgbClr val="C7D6E8"/>
                </a:solidFill>
                <a:latin typeface="Calibri" pitchFamily="34" charset="0"/>
                <a:ea typeface="Calibri" pitchFamily="34" charset="-122"/>
                <a:cs typeface="Calibri" pitchFamily="34" charset="-120"/>
              </a:rPr>
              <a:t>Số nút duyệt ≈ 3k — tỉ lệ với k, KHÔNG tỉ lệ với kích thước cây con. Đúng thứ ô tìm kiếm cần: người dùng chỉ xem 8–10 gợi ý.</a:t>
            </a:r>
            <a:endParaRPr lang="en-US" sz="1250" dirty="0"/>
          </a:p>
        </p:txBody>
      </p:sp>
      <p:sp>
        <p:nvSpPr>
          <p:cNvPr id="18" name="Text 16"/>
          <p:cNvSpPr/>
          <p:nvPr/>
        </p:nvSpPr>
        <p:spPr>
          <a:xfrm>
            <a:off x="11338560" y="6355080"/>
            <a:ext cx="36576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2377440"/>
            <a:ext cx="7315200" cy="914400"/>
          </a:xfrm>
          <a:prstGeom prst="rect">
            <a:avLst/>
          </a:prstGeom>
          <a:noFill/>
          <a:ln/>
        </p:spPr>
        <p:txBody>
          <a:bodyPr wrap="square" lIns="0" tIns="0" rIns="0" bIns="0" rtlCol="0" anchor="ctr"/>
          <a:lstStyle/>
          <a:p>
            <a:pPr indent="0" marL="0">
              <a:buNone/>
            </a:pPr>
            <a:r>
              <a:rPr lang="en-US" sz="5400" b="1" dirty="0">
                <a:solidFill>
                  <a:srgbClr val="FFFFFF"/>
                </a:solidFill>
                <a:latin typeface="Times New Roman" pitchFamily="34" charset="0"/>
                <a:ea typeface="Times New Roman" pitchFamily="34" charset="-122"/>
                <a:cs typeface="Times New Roman" pitchFamily="34" charset="-120"/>
              </a:rPr>
              <a:t>DEMO</a:t>
            </a:r>
            <a:endParaRPr lang="en-US" sz="5400" dirty="0"/>
          </a:p>
        </p:txBody>
      </p:sp>
      <p:sp>
        <p:nvSpPr>
          <p:cNvPr id="3" name="Text 1"/>
          <p:cNvSpPr/>
          <p:nvPr/>
        </p:nvSpPr>
        <p:spPr>
          <a:xfrm>
            <a:off x="548640" y="3383280"/>
            <a:ext cx="9144000" cy="457200"/>
          </a:xfrm>
          <a:prstGeom prst="rect">
            <a:avLst/>
          </a:prstGeom>
          <a:noFill/>
          <a:ln/>
        </p:spPr>
        <p:txBody>
          <a:bodyPr wrap="square" lIns="0" tIns="0" rIns="0" bIns="0" rtlCol="0" anchor="ctr"/>
          <a:lstStyle/>
          <a:p>
            <a:pPr indent="0" marL="0">
              <a:buNone/>
            </a:pPr>
            <a:r>
              <a:rPr lang="en-US" sz="2000" dirty="0">
                <a:solidFill>
                  <a:srgbClr val="5BC0BE"/>
                </a:solidFill>
                <a:latin typeface="Calibri" pitchFamily="34" charset="0"/>
                <a:ea typeface="Calibri" pitchFamily="34" charset="-122"/>
                <a:cs typeface="Calibri" pitchFamily="34" charset="-120"/>
              </a:rPr>
              <a:t>Hai module cùng chạy trên một luồng người dùng thật</a:t>
            </a:r>
            <a:endParaRPr lang="en-US" sz="2000" dirty="0"/>
          </a:p>
        </p:txBody>
      </p:sp>
      <p:sp>
        <p:nvSpPr>
          <p:cNvPr id="4" name="Shape 2"/>
          <p:cNvSpPr/>
          <p:nvPr/>
        </p:nvSpPr>
        <p:spPr>
          <a:xfrm>
            <a:off x="548640" y="4206240"/>
            <a:ext cx="3474720" cy="1234440"/>
          </a:xfrm>
          <a:prstGeom prst="roundRect">
            <a:avLst>
              <a:gd name="adj" fmla="val 5926"/>
            </a:avLst>
          </a:prstGeom>
          <a:solidFill>
            <a:srgbClr val="2E3A6E"/>
          </a:solidFill>
          <a:ln w="12700">
            <a:solidFill>
              <a:srgbClr val="2E3A6E"/>
            </a:solidFill>
            <a:prstDash val="solid"/>
          </a:ln>
        </p:spPr>
      </p:sp>
      <p:sp>
        <p:nvSpPr>
          <p:cNvPr id="5" name="Text 3"/>
          <p:cNvSpPr/>
          <p:nvPr/>
        </p:nvSpPr>
        <p:spPr>
          <a:xfrm>
            <a:off x="777240" y="4343400"/>
            <a:ext cx="457200" cy="365760"/>
          </a:xfrm>
          <a:prstGeom prst="rect">
            <a:avLst/>
          </a:prstGeom>
          <a:noFill/>
          <a:ln/>
        </p:spPr>
        <p:txBody>
          <a:bodyPr wrap="square" lIns="0" tIns="0" rIns="0" bIns="0" rtlCol="0" anchor="ctr"/>
          <a:lstStyle/>
          <a:p>
            <a:pPr indent="0" marL="0">
              <a:buNone/>
            </a:pPr>
            <a:r>
              <a:rPr lang="en-US" sz="2000" b="1" dirty="0">
                <a:solidFill>
                  <a:srgbClr val="5BC0BE"/>
                </a:solidFill>
                <a:latin typeface="Times New Roman" pitchFamily="34" charset="0"/>
                <a:ea typeface="Times New Roman" pitchFamily="34" charset="-122"/>
                <a:cs typeface="Times New Roman" pitchFamily="34" charset="-120"/>
              </a:rPr>
              <a:t>1</a:t>
            </a:r>
            <a:endParaRPr lang="en-US" sz="2000" dirty="0"/>
          </a:p>
        </p:txBody>
      </p:sp>
      <p:sp>
        <p:nvSpPr>
          <p:cNvPr id="6" name="Text 4"/>
          <p:cNvSpPr/>
          <p:nvPr/>
        </p:nvSpPr>
        <p:spPr>
          <a:xfrm>
            <a:off x="1280160" y="4370832"/>
            <a:ext cx="25603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Gõ tiền tố</a:t>
            </a:r>
            <a:endParaRPr lang="en-US" sz="1500" dirty="0"/>
          </a:p>
        </p:txBody>
      </p:sp>
      <p:sp>
        <p:nvSpPr>
          <p:cNvPr id="7" name="Text 5"/>
          <p:cNvSpPr/>
          <p:nvPr/>
        </p:nvSpPr>
        <p:spPr>
          <a:xfrm>
            <a:off x="777240" y="4754880"/>
            <a:ext cx="3017520" cy="548640"/>
          </a:xfrm>
          <a:prstGeom prst="rect">
            <a:avLst/>
          </a:prstGeom>
          <a:noFill/>
          <a:ln/>
        </p:spPr>
        <p:txBody>
          <a:bodyPr wrap="square" lIns="0" tIns="0" rIns="0" bIns="0" rtlCol="0" anchor="ctr"/>
          <a:lstStyle/>
          <a:p>
            <a:pPr indent="0" marL="0">
              <a:buNone/>
            </a:pPr>
            <a:r>
              <a:rPr lang="en-US" sz="1200" dirty="0">
                <a:solidFill>
                  <a:srgbClr val="9FB3C8"/>
                </a:solidFill>
                <a:latin typeface="Calibri" pitchFamily="34" charset="0"/>
                <a:ea typeface="Calibri" pitchFamily="34" charset="-122"/>
                <a:cs typeface="Calibri" pitchFamily="34" charset="-120"/>
              </a:rPr>
              <a:t>Trie gợi ý, hiện số nút đã duyệt</a:t>
            </a:r>
            <a:endParaRPr lang="en-US" sz="1200" dirty="0"/>
          </a:p>
        </p:txBody>
      </p:sp>
      <p:sp>
        <p:nvSpPr>
          <p:cNvPr id="8" name="Shape 6"/>
          <p:cNvSpPr/>
          <p:nvPr/>
        </p:nvSpPr>
        <p:spPr>
          <a:xfrm>
            <a:off x="4297680" y="4206240"/>
            <a:ext cx="3474720" cy="1234440"/>
          </a:xfrm>
          <a:prstGeom prst="roundRect">
            <a:avLst>
              <a:gd name="adj" fmla="val 5926"/>
            </a:avLst>
          </a:prstGeom>
          <a:solidFill>
            <a:srgbClr val="2E3A6E"/>
          </a:solidFill>
          <a:ln w="12700">
            <a:solidFill>
              <a:srgbClr val="2E3A6E"/>
            </a:solidFill>
            <a:prstDash val="solid"/>
          </a:ln>
        </p:spPr>
      </p:sp>
      <p:sp>
        <p:nvSpPr>
          <p:cNvPr id="9" name="Text 7"/>
          <p:cNvSpPr/>
          <p:nvPr/>
        </p:nvSpPr>
        <p:spPr>
          <a:xfrm>
            <a:off x="4526280" y="4343400"/>
            <a:ext cx="457200" cy="365760"/>
          </a:xfrm>
          <a:prstGeom prst="rect">
            <a:avLst/>
          </a:prstGeom>
          <a:noFill/>
          <a:ln/>
        </p:spPr>
        <p:txBody>
          <a:bodyPr wrap="square" lIns="0" tIns="0" rIns="0" bIns="0" rtlCol="0" anchor="ctr"/>
          <a:lstStyle/>
          <a:p>
            <a:pPr indent="0" marL="0">
              <a:buNone/>
            </a:pPr>
            <a:r>
              <a:rPr lang="en-US" sz="2000" b="1" dirty="0">
                <a:solidFill>
                  <a:srgbClr val="5BC0BE"/>
                </a:solidFill>
                <a:latin typeface="Times New Roman" pitchFamily="34" charset="0"/>
                <a:ea typeface="Times New Roman" pitchFamily="34" charset="-122"/>
                <a:cs typeface="Times New Roman" pitchFamily="34" charset="-120"/>
              </a:rPr>
              <a:t>2</a:t>
            </a:r>
            <a:endParaRPr lang="en-US" sz="2000" dirty="0"/>
          </a:p>
        </p:txBody>
      </p:sp>
      <p:sp>
        <p:nvSpPr>
          <p:cNvPr id="10" name="Text 8"/>
          <p:cNvSpPr/>
          <p:nvPr/>
        </p:nvSpPr>
        <p:spPr>
          <a:xfrm>
            <a:off x="5029200" y="4370832"/>
            <a:ext cx="25603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Chọn gợi ý</a:t>
            </a:r>
            <a:endParaRPr lang="en-US" sz="1500" dirty="0"/>
          </a:p>
        </p:txBody>
      </p:sp>
      <p:sp>
        <p:nvSpPr>
          <p:cNvPr id="11" name="Text 9"/>
          <p:cNvSpPr/>
          <p:nvPr/>
        </p:nvSpPr>
        <p:spPr>
          <a:xfrm>
            <a:off x="4526280" y="4754880"/>
            <a:ext cx="3017520" cy="548640"/>
          </a:xfrm>
          <a:prstGeom prst="rect">
            <a:avLst/>
          </a:prstGeom>
          <a:noFill/>
          <a:ln/>
        </p:spPr>
        <p:txBody>
          <a:bodyPr wrap="square" lIns="0" tIns="0" rIns="0" bIns="0" rtlCol="0" anchor="ctr"/>
          <a:lstStyle/>
          <a:p>
            <a:pPr indent="0" marL="0">
              <a:buNone/>
            </a:pPr>
            <a:r>
              <a:rPr lang="en-US" sz="1200" dirty="0">
                <a:solidFill>
                  <a:srgbClr val="9FB3C8"/>
                </a:solidFill>
                <a:latin typeface="Calibri" pitchFamily="34" charset="0"/>
                <a:ea typeface="Calibri" pitchFamily="34" charset="-122"/>
                <a:cs typeface="Calibri" pitchFamily="34" charset="-120"/>
              </a:rPr>
              <a:t>KMP tìm, tô sáng, hiện bảng π</a:t>
            </a:r>
            <a:endParaRPr lang="en-US" sz="1200" dirty="0"/>
          </a:p>
        </p:txBody>
      </p:sp>
      <p:sp>
        <p:nvSpPr>
          <p:cNvPr id="12" name="Shape 10"/>
          <p:cNvSpPr/>
          <p:nvPr/>
        </p:nvSpPr>
        <p:spPr>
          <a:xfrm>
            <a:off x="8046720" y="4206240"/>
            <a:ext cx="3474720" cy="1234440"/>
          </a:xfrm>
          <a:prstGeom prst="roundRect">
            <a:avLst>
              <a:gd name="adj" fmla="val 5926"/>
            </a:avLst>
          </a:prstGeom>
          <a:solidFill>
            <a:srgbClr val="2E3A6E"/>
          </a:solidFill>
          <a:ln w="12700">
            <a:solidFill>
              <a:srgbClr val="2E3A6E"/>
            </a:solidFill>
            <a:prstDash val="solid"/>
          </a:ln>
        </p:spPr>
      </p:sp>
      <p:sp>
        <p:nvSpPr>
          <p:cNvPr id="13" name="Text 11"/>
          <p:cNvSpPr/>
          <p:nvPr/>
        </p:nvSpPr>
        <p:spPr>
          <a:xfrm>
            <a:off x="8275320" y="4343400"/>
            <a:ext cx="457200" cy="365760"/>
          </a:xfrm>
          <a:prstGeom prst="rect">
            <a:avLst/>
          </a:prstGeom>
          <a:noFill/>
          <a:ln/>
        </p:spPr>
        <p:txBody>
          <a:bodyPr wrap="square" lIns="0" tIns="0" rIns="0" bIns="0" rtlCol="0" anchor="ctr"/>
          <a:lstStyle/>
          <a:p>
            <a:pPr indent="0" marL="0">
              <a:buNone/>
            </a:pPr>
            <a:r>
              <a:rPr lang="en-US" sz="2000" b="1" dirty="0">
                <a:solidFill>
                  <a:srgbClr val="5BC0BE"/>
                </a:solidFill>
                <a:latin typeface="Times New Roman" pitchFamily="34" charset="0"/>
                <a:ea typeface="Times New Roman" pitchFamily="34" charset="-122"/>
                <a:cs typeface="Times New Roman" pitchFamily="34" charset="-120"/>
              </a:rPr>
              <a:t>3</a:t>
            </a:r>
            <a:endParaRPr lang="en-US" sz="2000" dirty="0"/>
          </a:p>
        </p:txBody>
      </p:sp>
      <p:sp>
        <p:nvSpPr>
          <p:cNvPr id="14" name="Text 12"/>
          <p:cNvSpPr/>
          <p:nvPr/>
        </p:nvSpPr>
        <p:spPr>
          <a:xfrm>
            <a:off x="8778240" y="4370832"/>
            <a:ext cx="25603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Nhiều mẫu</a:t>
            </a:r>
            <a:endParaRPr lang="en-US" sz="1500" dirty="0"/>
          </a:p>
        </p:txBody>
      </p:sp>
      <p:sp>
        <p:nvSpPr>
          <p:cNvPr id="15" name="Text 13"/>
          <p:cNvSpPr/>
          <p:nvPr/>
        </p:nvSpPr>
        <p:spPr>
          <a:xfrm>
            <a:off x="8275320" y="4754880"/>
            <a:ext cx="3017520" cy="548640"/>
          </a:xfrm>
          <a:prstGeom prst="rect">
            <a:avLst/>
          </a:prstGeom>
          <a:noFill/>
          <a:ln/>
        </p:spPr>
        <p:txBody>
          <a:bodyPr wrap="square" lIns="0" tIns="0" rIns="0" bIns="0" rtlCol="0" anchor="ctr"/>
          <a:lstStyle/>
          <a:p>
            <a:pPr indent="0" marL="0">
              <a:buNone/>
            </a:pPr>
            <a:r>
              <a:rPr lang="en-US" sz="1200" dirty="0">
                <a:solidFill>
                  <a:srgbClr val="9FB3C8"/>
                </a:solidFill>
                <a:latin typeface="Calibri" pitchFamily="34" charset="0"/>
                <a:ea typeface="Calibri" pitchFamily="34" charset="-122"/>
                <a:cs typeface="Calibri" pitchFamily="34" charset="-120"/>
              </a:rPr>
              <a:t>Aho–Corasick, so với KMP lặp</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KIỂM THỬ</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B2430"/>
                </a:solidFill>
                <a:latin typeface="Times New Roman" pitchFamily="34" charset="0"/>
                <a:ea typeface="Times New Roman" pitchFamily="34" charset="-122"/>
                <a:cs typeface="Times New Roman" pitchFamily="34" charset="-120"/>
              </a:rPr>
              <a:t>276 test · 3 baseline độc lập</a:t>
            </a:r>
            <a:endParaRPr lang="en-US" sz="3000" dirty="0"/>
          </a:p>
        </p:txBody>
      </p:sp>
      <p:sp>
        <p:nvSpPr>
          <p:cNvPr id="4" name="Shape 2"/>
          <p:cNvSpPr/>
          <p:nvPr/>
        </p:nvSpPr>
        <p:spPr>
          <a:xfrm>
            <a:off x="548640" y="1554480"/>
            <a:ext cx="2606040" cy="1371600"/>
          </a:xfrm>
          <a:prstGeom prst="roundRect">
            <a:avLst>
              <a:gd name="adj" fmla="val 5333"/>
            </a:avLst>
          </a:prstGeom>
          <a:solidFill>
            <a:srgbClr val="EEF3F8"/>
          </a:solidFill>
          <a:ln w="12700">
            <a:solidFill>
              <a:srgbClr val="EEF3F8"/>
            </a:solidFill>
            <a:prstDash val="solid"/>
          </a:ln>
        </p:spPr>
      </p:sp>
      <p:sp>
        <p:nvSpPr>
          <p:cNvPr id="5" name="Text 3"/>
          <p:cNvSpPr/>
          <p:nvPr/>
        </p:nvSpPr>
        <p:spPr>
          <a:xfrm>
            <a:off x="548640" y="1700784"/>
            <a:ext cx="2606040" cy="685800"/>
          </a:xfrm>
          <a:prstGeom prst="rect">
            <a:avLst/>
          </a:prstGeom>
          <a:noFill/>
          <a:ln/>
        </p:spPr>
        <p:txBody>
          <a:bodyPr wrap="square" lIns="0" tIns="0" rIns="0" bIns="0" rtlCol="0" anchor="ctr"/>
          <a:lstStyle/>
          <a:p>
            <a:pPr algn="ctr" indent="0" marL="0">
              <a:buNone/>
            </a:pPr>
            <a:r>
              <a:rPr lang="en-US" sz="3400" b="1" dirty="0">
                <a:solidFill>
                  <a:srgbClr val="065A82"/>
                </a:solidFill>
                <a:latin typeface="Times New Roman" pitchFamily="34" charset="0"/>
                <a:ea typeface="Times New Roman" pitchFamily="34" charset="-122"/>
                <a:cs typeface="Times New Roman" pitchFamily="34" charset="-120"/>
              </a:rPr>
              <a:t>276</a:t>
            </a:r>
            <a:endParaRPr lang="en-US" sz="3400" dirty="0"/>
          </a:p>
        </p:txBody>
      </p:sp>
      <p:sp>
        <p:nvSpPr>
          <p:cNvPr id="6" name="Text 4"/>
          <p:cNvSpPr/>
          <p:nvPr/>
        </p:nvSpPr>
        <p:spPr>
          <a:xfrm>
            <a:off x="640080" y="2395728"/>
            <a:ext cx="242316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test tự động + 10 doctest</a:t>
            </a:r>
            <a:endParaRPr lang="en-US" sz="1100" dirty="0"/>
          </a:p>
        </p:txBody>
      </p:sp>
      <p:sp>
        <p:nvSpPr>
          <p:cNvPr id="7" name="Shape 5"/>
          <p:cNvSpPr/>
          <p:nvPr/>
        </p:nvSpPr>
        <p:spPr>
          <a:xfrm>
            <a:off x="3337560" y="1554480"/>
            <a:ext cx="2606040" cy="1371600"/>
          </a:xfrm>
          <a:prstGeom prst="roundRect">
            <a:avLst>
              <a:gd name="adj" fmla="val 5333"/>
            </a:avLst>
          </a:prstGeom>
          <a:solidFill>
            <a:srgbClr val="EEF3F8"/>
          </a:solidFill>
          <a:ln w="12700">
            <a:solidFill>
              <a:srgbClr val="EEF3F8"/>
            </a:solidFill>
            <a:prstDash val="solid"/>
          </a:ln>
        </p:spPr>
      </p:sp>
      <p:sp>
        <p:nvSpPr>
          <p:cNvPr id="8" name="Text 6"/>
          <p:cNvSpPr/>
          <p:nvPr/>
        </p:nvSpPr>
        <p:spPr>
          <a:xfrm>
            <a:off x="3337560" y="1700784"/>
            <a:ext cx="2606040" cy="685800"/>
          </a:xfrm>
          <a:prstGeom prst="rect">
            <a:avLst/>
          </a:prstGeom>
          <a:noFill/>
          <a:ln/>
        </p:spPr>
        <p:txBody>
          <a:bodyPr wrap="square" lIns="0" tIns="0" rIns="0" bIns="0" rtlCol="0" anchor="ctr"/>
          <a:lstStyle/>
          <a:p>
            <a:pPr algn="ctr" indent="0" marL="0">
              <a:buNone/>
            </a:pPr>
            <a:r>
              <a:rPr lang="en-US" sz="3400" b="1" dirty="0">
                <a:solidFill>
                  <a:srgbClr val="E8A33D"/>
                </a:solidFill>
                <a:latin typeface="Times New Roman" pitchFamily="34" charset="0"/>
                <a:ea typeface="Times New Roman" pitchFamily="34" charset="-122"/>
                <a:cs typeface="Times New Roman" pitchFamily="34" charset="-120"/>
              </a:rPr>
              <a:t>18</a:t>
            </a:r>
            <a:endParaRPr lang="en-US" sz="3400" dirty="0"/>
          </a:p>
        </p:txBody>
      </p:sp>
      <p:sp>
        <p:nvSpPr>
          <p:cNvPr id="9" name="Text 7"/>
          <p:cNvSpPr/>
          <p:nvPr/>
        </p:nvSpPr>
        <p:spPr>
          <a:xfrm>
            <a:off x="3429000" y="2395728"/>
            <a:ext cx="242316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test ĐỐI KHÁNG</a:t>
            </a:r>
            <a:endParaRPr lang="en-US" sz="1100" dirty="0"/>
          </a:p>
        </p:txBody>
      </p:sp>
      <p:sp>
        <p:nvSpPr>
          <p:cNvPr id="10" name="Shape 8"/>
          <p:cNvSpPr/>
          <p:nvPr/>
        </p:nvSpPr>
        <p:spPr>
          <a:xfrm>
            <a:off x="6126480" y="1554480"/>
            <a:ext cx="2606040" cy="1371600"/>
          </a:xfrm>
          <a:prstGeom prst="roundRect">
            <a:avLst>
              <a:gd name="adj" fmla="val 5333"/>
            </a:avLst>
          </a:prstGeom>
          <a:solidFill>
            <a:srgbClr val="EEF3F8"/>
          </a:solidFill>
          <a:ln w="12700">
            <a:solidFill>
              <a:srgbClr val="EEF3F8"/>
            </a:solidFill>
            <a:prstDash val="solid"/>
          </a:ln>
        </p:spPr>
      </p:sp>
      <p:sp>
        <p:nvSpPr>
          <p:cNvPr id="11" name="Text 9"/>
          <p:cNvSpPr/>
          <p:nvPr/>
        </p:nvSpPr>
        <p:spPr>
          <a:xfrm>
            <a:off x="6126480" y="1700784"/>
            <a:ext cx="2606040" cy="685800"/>
          </a:xfrm>
          <a:prstGeom prst="rect">
            <a:avLst/>
          </a:prstGeom>
          <a:noFill/>
          <a:ln/>
        </p:spPr>
        <p:txBody>
          <a:bodyPr wrap="square" lIns="0" tIns="0" rIns="0" bIns="0" rtlCol="0" anchor="ctr"/>
          <a:lstStyle/>
          <a:p>
            <a:pPr algn="ctr" indent="0" marL="0">
              <a:buNone/>
            </a:pPr>
            <a:r>
              <a:rPr lang="en-US" sz="3400" b="1" dirty="0">
                <a:solidFill>
                  <a:srgbClr val="1C7293"/>
                </a:solidFill>
                <a:latin typeface="Times New Roman" pitchFamily="34" charset="0"/>
                <a:ea typeface="Times New Roman" pitchFamily="34" charset="-122"/>
                <a:cs typeface="Times New Roman" pitchFamily="34" charset="-120"/>
              </a:rPr>
              <a:t>22</a:t>
            </a:r>
            <a:endParaRPr lang="en-US" sz="3400" dirty="0"/>
          </a:p>
        </p:txBody>
      </p:sp>
      <p:sp>
        <p:nvSpPr>
          <p:cNvPr id="12" name="Text 10"/>
          <p:cNvSpPr/>
          <p:nvPr/>
        </p:nvSpPr>
        <p:spPr>
          <a:xfrm>
            <a:off x="6217920" y="2395728"/>
            <a:ext cx="242316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test ngẫu nhiên đối chiếu</a:t>
            </a:r>
            <a:endParaRPr lang="en-US" sz="1100" dirty="0"/>
          </a:p>
        </p:txBody>
      </p:sp>
      <p:sp>
        <p:nvSpPr>
          <p:cNvPr id="13" name="Shape 11"/>
          <p:cNvSpPr/>
          <p:nvPr/>
        </p:nvSpPr>
        <p:spPr>
          <a:xfrm>
            <a:off x="8915400" y="1554480"/>
            <a:ext cx="2606040" cy="1371600"/>
          </a:xfrm>
          <a:prstGeom prst="roundRect">
            <a:avLst>
              <a:gd name="adj" fmla="val 5333"/>
            </a:avLst>
          </a:prstGeom>
          <a:solidFill>
            <a:srgbClr val="EEF3F8"/>
          </a:solidFill>
          <a:ln w="12700">
            <a:solidFill>
              <a:srgbClr val="EEF3F8"/>
            </a:solidFill>
            <a:prstDash val="solid"/>
          </a:ln>
        </p:spPr>
      </p:sp>
      <p:sp>
        <p:nvSpPr>
          <p:cNvPr id="14" name="Text 12"/>
          <p:cNvSpPr/>
          <p:nvPr/>
        </p:nvSpPr>
        <p:spPr>
          <a:xfrm>
            <a:off x="8915400" y="1700784"/>
            <a:ext cx="2606040" cy="685800"/>
          </a:xfrm>
          <a:prstGeom prst="rect">
            <a:avLst/>
          </a:prstGeom>
          <a:noFill/>
          <a:ln/>
        </p:spPr>
        <p:txBody>
          <a:bodyPr wrap="square" lIns="0" tIns="0" rIns="0" bIns="0" rtlCol="0" anchor="ctr"/>
          <a:lstStyle/>
          <a:p>
            <a:pPr algn="ctr" indent="0" marL="0">
              <a:buNone/>
            </a:pPr>
            <a:r>
              <a:rPr lang="en-US" sz="3400" b="1" dirty="0">
                <a:solidFill>
                  <a:srgbClr val="1E7B3C"/>
                </a:solidFill>
                <a:latin typeface="Times New Roman" pitchFamily="34" charset="0"/>
                <a:ea typeface="Times New Roman" pitchFamily="34" charset="-122"/>
                <a:cs typeface="Times New Roman" pitchFamily="34" charset="-120"/>
              </a:rPr>
              <a:t>6</a:t>
            </a:r>
            <a:endParaRPr lang="en-US" sz="3400" dirty="0"/>
          </a:p>
        </p:txBody>
      </p:sp>
      <p:sp>
        <p:nvSpPr>
          <p:cNvPr id="15" name="Text 13"/>
          <p:cNvSpPr/>
          <p:nvPr/>
        </p:nvSpPr>
        <p:spPr>
          <a:xfrm>
            <a:off x="9006840" y="2395728"/>
            <a:ext cx="242316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property test</a:t>
            </a:r>
            <a:endParaRPr lang="en-US" sz="1100" dirty="0"/>
          </a:p>
        </p:txBody>
      </p:sp>
      <p:sp>
        <p:nvSpPr>
          <p:cNvPr id="16" name="Text 14"/>
          <p:cNvSpPr/>
          <p:nvPr/>
        </p:nvSpPr>
        <p:spPr>
          <a:xfrm>
            <a:off x="548640" y="3154680"/>
            <a:ext cx="10058400" cy="36576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Ba baseline, KHÔNG dùng lại một dòng nào của src/</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3566160"/>
          <a:ext cx="11064240" cy="914400"/>
        </p:xfrm>
        <a:graphic>
          <a:graphicData uri="http://schemas.openxmlformats.org/drawingml/2006/table">
            <a:tbl>
              <a:tblPr/>
              <a:tblGrid>
                <a:gridCol w="3200400"/>
                <a:gridCol w="2011680"/>
                <a:gridCol w="585216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Đối chiếu cho</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Vì sao độc lập</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r>
              <a:tr h="347472">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naive_search  O(n·m)</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KMP</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thuật toán khác hẳn, ngây thơ tới mức đọc là tin</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47472">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str.find của CPython</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KMP</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viết bằng C, dùng thuật toán two-way</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47472">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naive_build_lps  O(m³)</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build_lps</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dịch TRỰC TIẾP từ định nghĩa border</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47472">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linear_autocomplete_sorted</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Trie</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quét list đã sắp; không set/sort trong vùng đo</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bl>
          </a:graphicData>
        </a:graphic>
      </p:graphicFrame>
      <p:sp>
        <p:nvSpPr>
          <p:cNvPr id="18" name="Text 15"/>
          <p:cNvSpPr/>
          <p:nvPr/>
        </p:nvSpPr>
        <p:spPr>
          <a:xfrm>
            <a:off x="548640" y="6355080"/>
            <a:ext cx="110642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Nếu baseline dùng chung mã với cài đặt, một lỗi logic sẽ xuất hiện ở cả hai phía và test pass sai.</a:t>
            </a:r>
            <a:endParaRPr lang="en-US" sz="950" dirty="0"/>
          </a:p>
        </p:txBody>
      </p:sp>
      <p:sp>
        <p:nvSpPr>
          <p:cNvPr id="19" name="Text 16"/>
          <p:cNvSpPr/>
          <p:nvPr/>
        </p:nvSpPr>
        <p:spPr>
          <a:xfrm>
            <a:off x="11338560" y="6355080"/>
            <a:ext cx="36576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KIỂM THỬ</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B2430"/>
                </a:solidFill>
                <a:latin typeface="Times New Roman" pitchFamily="34" charset="0"/>
                <a:ea typeface="Times New Roman" pitchFamily="34" charset="-122"/>
                <a:cs typeface="Times New Roman" pitchFamily="34" charset="-120"/>
              </a:rPr>
              <a:t>Test đối kháng: mỗi ca có mục tiêu tấn công</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931920"/>
                <a:gridCol w="4023360"/>
                <a:gridCol w="310896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Trường hợp</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Tấn công vào</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Kết quả</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r>
              <a:tr h="402336">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T = aⁿ,  P = aᵐ⁻¹b</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ca xấu nhất của naive</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KMP ≤ 2n, naive ~ n·m</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chuỗi FIBONACCI</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vòng while lùi π (dãy border dài nhất)</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vẫn ≤ 2n</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P = "abab" tuần hoàn</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bảo vệ tính chất overlapping</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999 nghiệm, đủ</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cây chổi: 2 000 từ, tiền tố 100 ký tự</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cơ chế early stop của Trie</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duyệt &lt; 300 nút</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từ dài 50 000 ký tự</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giới hạn đệ quy của Python</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pass (stack tường minh)</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ký tự lạ ở CUỐI từ dài</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cây bị bẩn khi insert thất bại</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num_nodes không đổi</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709160"/>
            <a:ext cx="11064240" cy="777240"/>
          </a:xfrm>
          <a:prstGeom prst="roundRect">
            <a:avLst>
              <a:gd name="adj" fmla="val 9412"/>
            </a:avLst>
          </a:prstGeom>
          <a:solidFill>
            <a:srgbClr val="EEF3F8"/>
          </a:solidFill>
          <a:ln w="12700">
            <a:solidFill>
              <a:srgbClr val="EEF3F8"/>
            </a:solidFill>
            <a:prstDash val="solid"/>
          </a:ln>
        </p:spPr>
      </p:sp>
      <p:sp>
        <p:nvSpPr>
          <p:cNvPr id="6" name="Text 3"/>
          <p:cNvSpPr/>
          <p:nvPr/>
        </p:nvSpPr>
        <p:spPr>
          <a:xfrm>
            <a:off x="822960" y="4864608"/>
            <a:ext cx="10972800" cy="502920"/>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Chuỗi Fibonacci có dãy border dài nhất trong các chuỗi cùng độ dài — nếu lập luận khấu hao sai ở đâu đó, chính ca này sẽ làm vượt chặn 2n.</a:t>
            </a:r>
            <a:endParaRPr lang="en-US" sz="1300" dirty="0"/>
          </a:p>
        </p:txBody>
      </p:sp>
      <p:sp>
        <p:nvSpPr>
          <p:cNvPr id="7" name="Text 4"/>
          <p:cNvSpPr/>
          <p:nvPr/>
        </p:nvSpPr>
        <p:spPr>
          <a:xfrm>
            <a:off x="11338560" y="6355080"/>
            <a:ext cx="36576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THỰC NGHIỆM · E1</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B2430"/>
                </a:solidFill>
                <a:latin typeface="Times New Roman" pitchFamily="34" charset="0"/>
                <a:ea typeface="Times New Roman" pitchFamily="34" charset="-122"/>
                <a:cs typeface="Times New Roman" pitchFamily="34" charset="-120"/>
              </a:rPr>
              <a:t>Chặn 2n chặt tới bốn chữ số thập phân</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560320"/>
                <a:gridCol w="1463040"/>
                <a:gridCol w="2286000"/>
                <a:gridCol w="2286000"/>
                <a:gridCol w="246888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Văn bản</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KMP cmp/n</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naive cmp/n</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Tăng tốc</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r>
              <a:tr h="365760">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natural</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10⁶</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1,143</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random_s26</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10⁶</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1,039</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repetitive</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10⁵</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32,5</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32,5×</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uniform</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10⁵</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1,9994</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64,0</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32,0×</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uniform</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10⁶</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1,9999</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r>
            </a:tbl>
          </a:graphicData>
        </a:graphic>
      </p:graphicFrame>
      <p:sp>
        <p:nvSpPr>
          <p:cNvPr id="5" name="Shape 2"/>
          <p:cNvSpPr/>
          <p:nvPr/>
        </p:nvSpPr>
        <p:spPr>
          <a:xfrm>
            <a:off x="548640" y="3977640"/>
            <a:ext cx="5486400" cy="1051560"/>
          </a:xfrm>
          <a:prstGeom prst="roundRect">
            <a:avLst>
              <a:gd name="adj" fmla="val 6957"/>
            </a:avLst>
          </a:prstGeom>
          <a:solidFill>
            <a:srgbClr val="21295C"/>
          </a:solidFill>
          <a:ln w="12700">
            <a:solidFill>
              <a:srgbClr val="21295C"/>
            </a:solidFill>
            <a:prstDash val="solid"/>
          </a:ln>
        </p:spPr>
      </p:sp>
      <p:sp>
        <p:nvSpPr>
          <p:cNvPr id="6" name="Text 3"/>
          <p:cNvSpPr/>
          <p:nvPr/>
        </p:nvSpPr>
        <p:spPr>
          <a:xfrm>
            <a:off x="822960" y="4114800"/>
            <a:ext cx="4937760" cy="502920"/>
          </a:xfrm>
          <a:prstGeom prst="rect">
            <a:avLst/>
          </a:prstGeom>
          <a:noFill/>
          <a:ln/>
        </p:spPr>
        <p:txBody>
          <a:bodyPr wrap="square" lIns="0" tIns="0" rIns="0" bIns="0" rtlCol="0" anchor="ctr"/>
          <a:lstStyle/>
          <a:p>
            <a:pPr indent="0" marL="0">
              <a:buNone/>
            </a:pPr>
            <a:r>
              <a:rPr lang="en-US" sz="3000" b="1" dirty="0">
                <a:solidFill>
                  <a:srgbClr val="5BC0BE"/>
                </a:solidFill>
                <a:latin typeface="Times New Roman" pitchFamily="34" charset="0"/>
                <a:ea typeface="Times New Roman" pitchFamily="34" charset="-122"/>
                <a:cs typeface="Times New Roman" pitchFamily="34" charset="-120"/>
              </a:rPr>
              <a:t>1,9999 · n</a:t>
            </a:r>
            <a:endParaRPr lang="en-US" sz="3000" dirty="0"/>
          </a:p>
        </p:txBody>
      </p:sp>
      <p:sp>
        <p:nvSpPr>
          <p:cNvPr id="7" name="Text 4"/>
          <p:cNvSpPr/>
          <p:nvPr/>
        </p:nvSpPr>
        <p:spPr>
          <a:xfrm>
            <a:off x="822960" y="4617720"/>
            <a:ext cx="4937760" cy="320040"/>
          </a:xfrm>
          <a:prstGeom prst="rect">
            <a:avLst/>
          </a:prstGeom>
          <a:noFill/>
          <a:ln/>
        </p:spPr>
        <p:txBody>
          <a:bodyPr wrap="square" lIns="0" tIns="0" rIns="0" bIns="0" rtlCol="0" anchor="ctr"/>
          <a:lstStyle/>
          <a:p>
            <a:pPr indent="0" marL="0">
              <a:buNone/>
            </a:pPr>
            <a:r>
              <a:rPr lang="en-US" sz="1250" dirty="0">
                <a:solidFill>
                  <a:srgbClr val="9FB3C8"/>
                </a:solidFill>
                <a:latin typeface="Calibri" pitchFamily="34" charset="0"/>
                <a:ea typeface="Calibri" pitchFamily="34" charset="-122"/>
                <a:cs typeface="Calibri" pitchFamily="34" charset="-120"/>
              </a:rPr>
              <a:t>sát cận 2n, chưa bao giờ vượt</a:t>
            </a:r>
            <a:endParaRPr lang="en-US" sz="1250" dirty="0"/>
          </a:p>
        </p:txBody>
      </p:sp>
      <p:sp>
        <p:nvSpPr>
          <p:cNvPr id="8" name="Shape 5"/>
          <p:cNvSpPr/>
          <p:nvPr/>
        </p:nvSpPr>
        <p:spPr>
          <a:xfrm>
            <a:off x="6309360" y="3977640"/>
            <a:ext cx="5303520" cy="1051560"/>
          </a:xfrm>
          <a:prstGeom prst="roundRect">
            <a:avLst>
              <a:gd name="adj" fmla="val 6957"/>
            </a:avLst>
          </a:prstGeom>
          <a:solidFill>
            <a:srgbClr val="FFF4E0"/>
          </a:solidFill>
          <a:ln w="12700">
            <a:solidFill>
              <a:srgbClr val="FFF4E0"/>
            </a:solidFill>
            <a:prstDash val="solid"/>
          </a:ln>
        </p:spPr>
      </p:sp>
      <p:sp>
        <p:nvSpPr>
          <p:cNvPr id="9" name="Text 6"/>
          <p:cNvSpPr/>
          <p:nvPr/>
        </p:nvSpPr>
        <p:spPr>
          <a:xfrm>
            <a:off x="6583680" y="4096512"/>
            <a:ext cx="4754880" cy="274320"/>
          </a:xfrm>
          <a:prstGeom prst="rect">
            <a:avLst/>
          </a:prstGeom>
          <a:noFill/>
          <a:ln/>
        </p:spPr>
        <p:txBody>
          <a:bodyPr wrap="square" lIns="0" tIns="0" rIns="0" bIns="0" rtlCol="0" anchor="ctr"/>
          <a:lstStyle/>
          <a:p>
            <a:pPr indent="0" marL="0">
              <a:buNone/>
            </a:pPr>
            <a:r>
              <a:rPr lang="en-US" sz="1300" b="1" dirty="0">
                <a:solidFill>
                  <a:srgbClr val="8A5A00"/>
                </a:solidFill>
                <a:latin typeface="Calibri" pitchFamily="34" charset="0"/>
                <a:ea typeface="Calibri" pitchFamily="34" charset="-122"/>
                <a:cs typeface="Calibri" pitchFamily="34" charset="-120"/>
              </a:rPr>
              <a:t>Trung thực:</a:t>
            </a:r>
            <a:endParaRPr lang="en-US" sz="1300" dirty="0"/>
          </a:p>
        </p:txBody>
      </p:sp>
      <p:sp>
        <p:nvSpPr>
          <p:cNvPr id="10" name="Text 7"/>
          <p:cNvSpPr/>
          <p:nvPr/>
        </p:nvSpPr>
        <p:spPr>
          <a:xfrm>
            <a:off x="6583680" y="4370832"/>
            <a:ext cx="4754880" cy="594360"/>
          </a:xfrm>
          <a:prstGeom prst="rect">
            <a:avLst/>
          </a:prstGeom>
          <a:noFill/>
          <a:ln/>
        </p:spPr>
        <p:txBody>
          <a:bodyPr wrap="square" lIns="0" tIns="0" rIns="0" bIns="0" rtlCol="0" anchor="ctr"/>
          <a:lstStyle/>
          <a:p>
            <a:pPr indent="0" marL="0">
              <a:buNone/>
            </a:pPr>
            <a:r>
              <a:rPr lang="en-US" sz="1150" dirty="0">
                <a:solidFill>
                  <a:srgbClr val="8A5A00"/>
                </a:solidFill>
                <a:latin typeface="Calibri" pitchFamily="34" charset="0"/>
                <a:ea typeface="Calibri" pitchFamily="34" charset="-122"/>
                <a:cs typeface="Calibri" pitchFamily="34" charset="-120"/>
              </a:rPr>
              <a:t>Trên dữ liệu natural-like tổng hợp theo Zipf, KMP ≈ naive (1,0–1,1×). Với |Σ| lớn, naive ĐÃ gần tuyến tính. Lợi thế KMP chỉ hiện khi dữ liệu lặp.</a:t>
            </a:r>
            <a:endParaRPr lang="en-US" sz="1150" dirty="0"/>
          </a:p>
        </p:txBody>
      </p:sp>
      <p:sp>
        <p:nvSpPr>
          <p:cNvPr id="11" name="Text 8"/>
          <p:cNvSpPr/>
          <p:nvPr/>
        </p:nvSpPr>
        <p:spPr>
          <a:xfrm>
            <a:off x="548640" y="6355080"/>
            <a:ext cx="110642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Nguồn: e1_scaling_n.csv · trung vị 7 lần · m = 64 · CPython 3.11.9, macOS arm64</a:t>
            </a:r>
            <a:endParaRPr lang="en-US" sz="950" dirty="0"/>
          </a:p>
        </p:txBody>
      </p:sp>
      <p:sp>
        <p:nvSpPr>
          <p:cNvPr id="12" name="Text 9"/>
          <p:cNvSpPr/>
          <p:nvPr/>
        </p:nvSpPr>
        <p:spPr>
          <a:xfrm>
            <a:off x="11338560" y="6355080"/>
            <a:ext cx="36576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THỰC NGHIỆM · E1</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B2430"/>
                </a:solidFill>
                <a:latin typeface="Times New Roman" pitchFamily="34" charset="0"/>
                <a:ea typeface="Times New Roman" pitchFamily="34" charset="-122"/>
                <a:cs typeface="Times New Roman" pitchFamily="34" charset="-120"/>
              </a:rPr>
              <a:t>Số phép so sánh chuẩn hóa theo n</a:t>
            </a:r>
            <a:endParaRPr lang="en-US" sz="3000" dirty="0"/>
          </a:p>
        </p:txBody>
      </p:sp>
      <p:pic>
        <p:nvPicPr>
          <p:cNvPr id="4" name="Image 0" descr="/Users/loihuynh/Personal/master/DoAn-CD10-KMP-Trie/results/figures/fig2_comparisons_per_n.png">    </p:cNvPr>
          <p:cNvPicPr>
            <a:picLocks noChangeAspect="1"/>
          </p:cNvPicPr>
          <p:nvPr/>
        </p:nvPicPr>
        <p:blipFill>
          <a:blip r:embed="rId1"/>
          <a:stretch>
            <a:fillRect/>
          </a:stretch>
        </p:blipFill>
        <p:spPr>
          <a:xfrm>
            <a:off x="2103120" y="1371600"/>
            <a:ext cx="7955280" cy="4572000"/>
          </a:xfrm>
          <a:prstGeom prst="rect">
            <a:avLst/>
          </a:prstGeom>
        </p:spPr>
      </p:pic>
      <p:sp>
        <p:nvSpPr>
          <p:cNvPr id="5" name="Text 2"/>
          <p:cNvSpPr/>
          <p:nvPr/>
        </p:nvSpPr>
        <p:spPr>
          <a:xfrm>
            <a:off x="11338560" y="6355080"/>
            <a:ext cx="36576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THỰC NGHIỆM · E2 VÀ E3</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B2430"/>
                </a:solidFill>
                <a:latin typeface="Times New Roman" pitchFamily="34" charset="0"/>
                <a:ea typeface="Times New Roman" pitchFamily="34" charset="-122"/>
                <a:cs typeface="Times New Roman" pitchFamily="34" charset="-120"/>
              </a:rPr>
              <a:t>m không ảnh hưởng KMP · N không ảnh hưởng Trie</a:t>
            </a:r>
            <a:endParaRPr lang="en-US" sz="3000" dirty="0"/>
          </a:p>
        </p:txBody>
      </p:sp>
      <p:sp>
        <p:nvSpPr>
          <p:cNvPr id="4" name="Text 2"/>
          <p:cNvSpPr/>
          <p:nvPr/>
        </p:nvSpPr>
        <p:spPr>
          <a:xfrm>
            <a:off x="548640" y="1481328"/>
            <a:ext cx="5486400" cy="32004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E2 — m biến thiên 1 024 lần (n = 30 000)</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5394960" cy="914400"/>
        </p:xfrm>
        <a:graphic>
          <a:graphicData uri="http://schemas.openxmlformats.org/drawingml/2006/table">
            <a:tbl>
              <a:tblPr/>
              <a:tblGrid>
                <a:gridCol w="1097280"/>
                <a:gridCol w="1554480"/>
                <a:gridCol w="1554480"/>
                <a:gridCol w="118872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KMP cmp/n</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naive cmp/n</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LPS cmp/m</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r>
              <a:tr h="347472">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1,9999</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4,0</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1,25</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47472">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64</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1,9979</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63,9</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1,95</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47472">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1 024</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1,9659</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1,997</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r>
            </a:tbl>
          </a:graphicData>
        </a:graphic>
      </p:graphicFrame>
      <p:sp>
        <p:nvSpPr>
          <p:cNvPr id="6" name="Text 3"/>
          <p:cNvSpPr/>
          <p:nvPr/>
        </p:nvSpPr>
        <p:spPr>
          <a:xfrm>
            <a:off x="6309360" y="1481328"/>
            <a:ext cx="5486400" cy="32004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E3 — N biến thiên 500 lần</a:t>
            </a:r>
            <a:endParaRPr lang="en-US" sz="140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309360" y="1828800"/>
          <a:ext cx="5303520" cy="914400"/>
        </p:xfrm>
        <a:graphic>
          <a:graphicData uri="http://schemas.openxmlformats.org/drawingml/2006/table">
            <a:tbl>
              <a:tblPr/>
              <a:tblGrid>
                <a:gridCol w="1188720"/>
                <a:gridCol w="1005840"/>
                <a:gridCol w="1188720"/>
                <a:gridCol w="1005840"/>
                <a:gridCol w="91440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Trie</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Tuyến tính</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Tăng tốc</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search</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r>
              <a:tr h="347472">
                <a:tc>
                  <a:txBody>
                    <a:bodyPr/>
                    <a:lstStyle/>
                    <a:p>
                      <a:pPr algn="l" indent="0" marL="0">
                        <a:buNone/>
                      </a:pPr>
                      <a:r>
                        <a:rPr lang="en-US" sz="1150" dirty="0">
                          <a:solidFill>
                            <a:srgbClr val="1B2430"/>
                          </a:solidFill>
                          <a:latin typeface="Calibri" pitchFamily="34" charset="0"/>
                          <a:ea typeface="Calibri" pitchFamily="34" charset="-122"/>
                          <a:cs typeface="Calibri" pitchFamily="34" charset="-120"/>
                        </a:rPr>
                        <a:t>1 000</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430"/>
                          </a:solidFill>
                          <a:latin typeface="Calibri" pitchFamily="34" charset="0"/>
                          <a:ea typeface="Calibri" pitchFamily="34" charset="-122"/>
                          <a:cs typeface="Calibri" pitchFamily="34" charset="-120"/>
                        </a:rPr>
                        <a:t>14,4 µs</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430"/>
                          </a:solidFill>
                          <a:latin typeface="Calibri" pitchFamily="34" charset="0"/>
                          <a:ea typeface="Calibri" pitchFamily="34" charset="-122"/>
                          <a:cs typeface="Calibri" pitchFamily="34" charset="-120"/>
                        </a:rPr>
                        <a:t>19,3 µs</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430"/>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430"/>
                          </a:solidFill>
                          <a:latin typeface="Calibri" pitchFamily="34" charset="0"/>
                          <a:ea typeface="Calibri" pitchFamily="34" charset="-122"/>
                          <a:cs typeface="Calibri" pitchFamily="34" charset="-120"/>
                        </a:rPr>
                        <a:t>6 nút</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47472">
                <a:tc>
                  <a:txBody>
                    <a:bodyPr/>
                    <a:lstStyle/>
                    <a:p>
                      <a:pPr algn="l" indent="0" marL="0">
                        <a:buNone/>
                      </a:pPr>
                      <a:r>
                        <a:rPr lang="en-US" sz="1150" dirty="0">
                          <a:solidFill>
                            <a:srgbClr val="1B2430"/>
                          </a:solidFill>
                          <a:latin typeface="Calibri" pitchFamily="34" charset="0"/>
                          <a:ea typeface="Calibri" pitchFamily="34" charset="-122"/>
                          <a:cs typeface="Calibri" pitchFamily="34" charset="-120"/>
                        </a:rPr>
                        <a:t>100 000</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430"/>
                          </a:solidFill>
                          <a:latin typeface="Calibri" pitchFamily="34" charset="0"/>
                          <a:ea typeface="Calibri" pitchFamily="34" charset="-122"/>
                          <a:cs typeface="Calibri" pitchFamily="34" charset="-120"/>
                        </a:rPr>
                        <a:t>7,1 µs</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430"/>
                          </a:solidFill>
                          <a:latin typeface="Calibri" pitchFamily="34" charset="0"/>
                          <a:ea typeface="Calibri" pitchFamily="34" charset="-122"/>
                          <a:cs typeface="Calibri" pitchFamily="34" charset="-120"/>
                        </a:rPr>
                        <a:t>1 832 µs</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430"/>
                          </a:solidFill>
                          <a:latin typeface="Calibri" pitchFamily="34" charset="0"/>
                          <a:ea typeface="Calibri" pitchFamily="34" charset="-122"/>
                          <a:cs typeface="Calibri" pitchFamily="34" charset="-120"/>
                        </a:rPr>
                        <a:t>258,6×</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430"/>
                          </a:solidFill>
                          <a:latin typeface="Calibri" pitchFamily="34" charset="0"/>
                          <a:ea typeface="Calibri" pitchFamily="34" charset="-122"/>
                          <a:cs typeface="Calibri" pitchFamily="34" charset="-120"/>
                        </a:rPr>
                        <a:t>10 nút</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47472">
                <a:tc>
                  <a:txBody>
                    <a:bodyPr/>
                    <a:lstStyle/>
                    <a:p>
                      <a:pPr algn="l" indent="0" marL="0">
                        <a:buNone/>
                      </a:pPr>
                      <a:r>
                        <a:rPr lang="en-US" sz="1150" dirty="0">
                          <a:solidFill>
                            <a:srgbClr val="1B2430"/>
                          </a:solidFill>
                          <a:latin typeface="Calibri" pitchFamily="34" charset="0"/>
                          <a:ea typeface="Calibri" pitchFamily="34" charset="-122"/>
                          <a:cs typeface="Calibri" pitchFamily="34" charset="-120"/>
                        </a:rPr>
                        <a:t>500 000</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c>
                  <a:txBody>
                    <a:bodyPr/>
                    <a:lstStyle/>
                    <a:p>
                      <a:pPr algn="ctr" indent="0" marL="0">
                        <a:buNone/>
                      </a:pPr>
                      <a:r>
                        <a:rPr lang="en-US" sz="1150" dirty="0">
                          <a:solidFill>
                            <a:srgbClr val="1B2430"/>
                          </a:solidFill>
                          <a:latin typeface="Calibri" pitchFamily="34" charset="0"/>
                          <a:ea typeface="Calibri" pitchFamily="34" charset="-122"/>
                          <a:cs typeface="Calibri" pitchFamily="34" charset="-120"/>
                        </a:rPr>
                        <a:t>8,6 µs</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c>
                  <a:txBody>
                    <a:bodyPr/>
                    <a:lstStyle/>
                    <a:p>
                      <a:pPr algn="ctr" indent="0" marL="0">
                        <a:buNone/>
                      </a:pPr>
                      <a:r>
                        <a:rPr lang="en-US" sz="1150" dirty="0">
                          <a:solidFill>
                            <a:srgbClr val="1B2430"/>
                          </a:solidFill>
                          <a:latin typeface="Calibri" pitchFamily="34" charset="0"/>
                          <a:ea typeface="Calibri" pitchFamily="34" charset="-122"/>
                          <a:cs typeface="Calibri" pitchFamily="34" charset="-120"/>
                        </a:rPr>
                        <a:t>9 161 µs</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c>
                  <a:txBody>
                    <a:bodyPr/>
                    <a:lstStyle/>
                    <a:p>
                      <a:pPr algn="ctr" indent="0" marL="0">
                        <a:buNone/>
                      </a:pPr>
                      <a:r>
                        <a:rPr lang="en-US" sz="1150" dirty="0">
                          <a:solidFill>
                            <a:srgbClr val="1B2430"/>
                          </a:solidFill>
                          <a:latin typeface="Calibri" pitchFamily="34" charset="0"/>
                          <a:ea typeface="Calibri" pitchFamily="34" charset="-122"/>
                          <a:cs typeface="Calibri" pitchFamily="34" charset="-120"/>
                        </a:rPr>
                        <a:t>1 062×</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c>
                  <a:txBody>
                    <a:bodyPr/>
                    <a:lstStyle/>
                    <a:p>
                      <a:pPr algn="ctr" indent="0" marL="0">
                        <a:buNone/>
                      </a:pPr>
                      <a:r>
                        <a:rPr lang="en-US" sz="1150" dirty="0">
                          <a:solidFill>
                            <a:srgbClr val="1B2430"/>
                          </a:solidFill>
                          <a:latin typeface="Calibri" pitchFamily="34" charset="0"/>
                          <a:ea typeface="Calibri" pitchFamily="34" charset="-122"/>
                          <a:cs typeface="Calibri" pitchFamily="34" charset="-120"/>
                        </a:rPr>
                        <a:t>10 nút</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r>
            </a:tbl>
          </a:graphicData>
        </a:graphic>
      </p:graphicFrame>
      <p:sp>
        <p:nvSpPr>
          <p:cNvPr id="8" name="Shape 4"/>
          <p:cNvSpPr/>
          <p:nvPr/>
        </p:nvSpPr>
        <p:spPr>
          <a:xfrm>
            <a:off x="548640" y="3401568"/>
            <a:ext cx="5394960" cy="1371600"/>
          </a:xfrm>
          <a:prstGeom prst="roundRect">
            <a:avLst>
              <a:gd name="adj" fmla="val 5333"/>
            </a:avLst>
          </a:prstGeom>
          <a:solidFill>
            <a:srgbClr val="EEF3F8"/>
          </a:solidFill>
          <a:ln w="12700">
            <a:solidFill>
              <a:srgbClr val="EEF3F8"/>
            </a:solidFill>
            <a:prstDash val="solid"/>
          </a:ln>
        </p:spPr>
      </p:sp>
      <p:sp>
        <p:nvSpPr>
          <p:cNvPr id="9" name="Text 5"/>
          <p:cNvSpPr/>
          <p:nvPr/>
        </p:nvSpPr>
        <p:spPr>
          <a:xfrm>
            <a:off x="822960" y="3584448"/>
            <a:ext cx="4846320" cy="36576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Chặn 2m của BUILD_LPS cũng chặt: 1,997</a:t>
            </a:r>
            <a:endParaRPr lang="en-US" sz="1500" dirty="0"/>
          </a:p>
        </p:txBody>
      </p:sp>
      <p:sp>
        <p:nvSpPr>
          <p:cNvPr id="10" name="Text 6"/>
          <p:cNvSpPr/>
          <p:nvPr/>
        </p:nvSpPr>
        <p:spPr>
          <a:xfrm>
            <a:off x="822960" y="3977640"/>
            <a:ext cx="4846320" cy="68580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Cột KMP giữ nguyên khi m biến thiên 1 024 lần ⇒ chặn là 2n, không phải hàm của m.</a:t>
            </a:r>
            <a:endParaRPr lang="en-US" sz="1200" dirty="0"/>
          </a:p>
        </p:txBody>
      </p:sp>
      <p:sp>
        <p:nvSpPr>
          <p:cNvPr id="11" name="Shape 7"/>
          <p:cNvSpPr/>
          <p:nvPr/>
        </p:nvSpPr>
        <p:spPr>
          <a:xfrm>
            <a:off x="6309360" y="3401568"/>
            <a:ext cx="5303520" cy="1371600"/>
          </a:xfrm>
          <a:prstGeom prst="roundRect">
            <a:avLst>
              <a:gd name="adj" fmla="val 5333"/>
            </a:avLst>
          </a:prstGeom>
          <a:solidFill>
            <a:srgbClr val="EEF3F8"/>
          </a:solidFill>
          <a:ln w="12700">
            <a:solidFill>
              <a:srgbClr val="EEF3F8"/>
            </a:solidFill>
            <a:prstDash val="solid"/>
          </a:ln>
        </p:spPr>
      </p:sp>
      <p:sp>
        <p:nvSpPr>
          <p:cNvPr id="12" name="Text 8"/>
          <p:cNvSpPr/>
          <p:nvPr/>
        </p:nvSpPr>
        <p:spPr>
          <a:xfrm>
            <a:off x="6583680" y="3584448"/>
            <a:ext cx="4754880" cy="36576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search duyệt 6–10 nút = ĐỘ DÀI TỪ, độc lập N</a:t>
            </a:r>
            <a:endParaRPr lang="en-US" sz="1500" dirty="0"/>
          </a:p>
        </p:txBody>
      </p:sp>
      <p:sp>
        <p:nvSpPr>
          <p:cNvPr id="13" name="Text 9"/>
          <p:cNvSpPr/>
          <p:nvPr/>
        </p:nvSpPr>
        <p:spPr>
          <a:xfrm>
            <a:off x="6583680" y="3977640"/>
            <a:ext cx="4754880" cy="68580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Trie gần như phẳng; baseline quét tăng theo N và không gồm chi phí set/sort.</a:t>
            </a:r>
            <a:endParaRPr lang="en-US" sz="1200" dirty="0"/>
          </a:p>
        </p:txBody>
      </p:sp>
      <p:sp>
        <p:nvSpPr>
          <p:cNvPr id="14" name="Shape 10"/>
          <p:cNvSpPr/>
          <p:nvPr/>
        </p:nvSpPr>
        <p:spPr>
          <a:xfrm>
            <a:off x="548640" y="4956048"/>
            <a:ext cx="11064240" cy="713232"/>
          </a:xfrm>
          <a:prstGeom prst="roundRect">
            <a:avLst>
              <a:gd name="adj" fmla="val 10256"/>
            </a:avLst>
          </a:prstGeom>
          <a:solidFill>
            <a:srgbClr val="21295C"/>
          </a:solidFill>
          <a:ln w="12700">
            <a:solidFill>
              <a:srgbClr val="21295C"/>
            </a:solidFill>
            <a:prstDash val="solid"/>
          </a:ln>
        </p:spPr>
      </p:sp>
      <p:sp>
        <p:nvSpPr>
          <p:cNvPr id="15" name="Text 11"/>
          <p:cNvSpPr/>
          <p:nvPr/>
        </p:nvSpPr>
        <p:spPr>
          <a:xfrm>
            <a:off x="868680" y="5120640"/>
            <a:ext cx="10789920" cy="411480"/>
          </a:xfrm>
          <a:prstGeom prst="rect">
            <a:avLst/>
          </a:prstGeom>
          <a:noFill/>
          <a:ln/>
        </p:spPr>
        <p:txBody>
          <a:bodyPr wrap="square" lIns="0" tIns="0" rIns="0" bIns="0" rtlCol="0" anchor="ctr"/>
          <a:lstStyle/>
          <a:p>
            <a:pPr indent="0" marL="0">
              <a:buNone/>
            </a:pPr>
            <a:r>
              <a:rPr lang="en-US" sz="1400" b="1" dirty="0">
                <a:solidFill>
                  <a:srgbClr val="5BC0BE"/>
                </a:solidFill>
                <a:latin typeface="Calibri" pitchFamily="34" charset="0"/>
                <a:ea typeface="Calibri" pitchFamily="34" charset="-122"/>
                <a:cs typeface="Calibri" pitchFamily="34" charset="-120"/>
              </a:rPr>
              <a:t>Số đếm nút là bằng chứng sạch hơn cả thời gian — chính xác tuyệt đối, không bị nhiễu bởi ngôn ngữ hay phần cứng.</a:t>
            </a:r>
            <a:endParaRPr lang="en-US" sz="1400" dirty="0"/>
          </a:p>
        </p:txBody>
      </p:sp>
      <p:sp>
        <p:nvSpPr>
          <p:cNvPr id="16" name="Text 12"/>
          <p:cNvSpPr/>
          <p:nvPr/>
        </p:nvSpPr>
        <p:spPr>
          <a:xfrm>
            <a:off x="548640" y="6355080"/>
            <a:ext cx="110642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Nguồn: e2_scaling_m.csv và e3_trie_vs_linear.csv</a:t>
            </a:r>
            <a:endParaRPr lang="en-US" sz="950" dirty="0"/>
          </a:p>
        </p:txBody>
      </p:sp>
      <p:sp>
        <p:nvSpPr>
          <p:cNvPr id="17" name="Text 13"/>
          <p:cNvSpPr/>
          <p:nvPr/>
        </p:nvSpPr>
        <p:spPr>
          <a:xfrm>
            <a:off x="11338560" y="6355080"/>
            <a:ext cx="36576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MỞ RỘNG</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B2430"/>
                </a:solidFill>
                <a:latin typeface="Times New Roman" pitchFamily="34" charset="0"/>
                <a:ea typeface="Times New Roman" pitchFamily="34" charset="-122"/>
                <a:cs typeface="Times New Roman" pitchFamily="34" charset="-120"/>
              </a:rPr>
              <a:t>Mở rộng: Aho–Corasick nối hai module</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5029200"/>
                <a:gridCol w="603504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KMP (module A)</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Aho–Corasick</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r>
              <a:tr h="402336">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π trên MỘT mẫu, lưu bằng mảng</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failure link trên TRIE nhiều mẫu</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π[i] = border dài nhất của P[0..i]</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fail(u) = hậu tố dài nhất còn là tiền tố của một mẫu</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lùi theo dãy border</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lùi theo dãy failure link</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O(n + m)</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430"/>
                          </a:solidFill>
                          <a:latin typeface="Calibri" pitchFamily="34" charset="0"/>
                          <a:ea typeface="Calibri" pitchFamily="34" charset="-122"/>
                          <a:cs typeface="Calibri" pitchFamily="34" charset="-120"/>
                        </a:rPr>
                        <a:t>O(n + Σ|Pᵢ| + số khớp)</a:t>
                      </a:r>
                      <a:endParaRPr lang="en-US" sz="12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3566160"/>
            <a:ext cx="11064240" cy="685800"/>
          </a:xfrm>
          <a:prstGeom prst="roundRect">
            <a:avLst>
              <a:gd name="adj" fmla="val 10667"/>
            </a:avLst>
          </a:prstGeom>
          <a:solidFill>
            <a:srgbClr val="21295C"/>
          </a:solidFill>
          <a:ln w="12700">
            <a:solidFill>
              <a:srgbClr val="21295C"/>
            </a:solidFill>
            <a:prstDash val="solid"/>
          </a:ln>
        </p:spPr>
      </p:sp>
      <p:sp>
        <p:nvSpPr>
          <p:cNvPr id="6" name="Text 3"/>
          <p:cNvSpPr/>
          <p:nvPr/>
        </p:nvSpPr>
        <p:spPr>
          <a:xfrm>
            <a:off x="822960" y="3703320"/>
            <a:ext cx="10789920" cy="411480"/>
          </a:xfrm>
          <a:prstGeom prst="rect">
            <a:avLst/>
          </a:prstGeom>
          <a:noFill/>
          <a:ln/>
        </p:spPr>
        <p:txBody>
          <a:bodyPr wrap="square" lIns="0" tIns="0" rIns="0" bIns="0" rtlCol="0" anchor="ctr"/>
          <a:lstStyle/>
          <a:p>
            <a:pPr algn="ctr" indent="0" marL="0">
              <a:buNone/>
            </a:pPr>
            <a:r>
              <a:rPr lang="en-US" sz="1800" b="1" dirty="0">
                <a:solidFill>
                  <a:srgbClr val="5BC0BE"/>
                </a:solidFill>
                <a:latin typeface="Times New Roman" pitchFamily="34" charset="0"/>
                <a:ea typeface="Times New Roman" pitchFamily="34" charset="-122"/>
                <a:cs typeface="Times New Roman" pitchFamily="34" charset="-120"/>
              </a:rPr>
              <a:t>Aho–Corasick  =  cấu trúc của module B  +  ý tưởng của module A</a:t>
            </a:r>
            <a:endParaRPr lang="en-US" sz="1800" dirty="0"/>
          </a:p>
        </p:txBody>
      </p:sp>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548640" y="4389120"/>
          <a:ext cx="11064240" cy="914400"/>
        </p:xfrm>
        <a:graphic>
          <a:graphicData uri="http://schemas.openxmlformats.org/drawingml/2006/table">
            <a:tbl>
              <a:tblPr/>
              <a:tblGrid>
                <a:gridCol w="1645920"/>
                <a:gridCol w="2743200"/>
                <a:gridCol w="3291840"/>
                <a:gridCol w="338328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Số mẫu</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 (so sánh)</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KMP lặp (so sánh)</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Tỉ số</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065A82"/>
                    </a:solidFill>
                  </a:tcPr>
                </a:tc>
              </a:tr>
              <a:tr h="329184">
                <a:tc>
                  <a:txBody>
                    <a:bodyPr/>
                    <a:lstStyle/>
                    <a:p>
                      <a:pPr algn="l" indent="0" marL="0">
                        <a:buNone/>
                      </a:pPr>
                      <a:r>
                        <a:rPr lang="en-US" sz="1200" dirty="0">
                          <a:solidFill>
                            <a:srgbClr val="1B243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4E0"/>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109 539</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4E0"/>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108 737</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4E0"/>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0,99× (chậm hơn!)</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4E0"/>
                    </a:solidFill>
                  </a:tcPr>
                </a:tc>
              </a:tr>
              <a:tr h="329184">
                <a:tc>
                  <a:txBody>
                    <a:bodyPr/>
                    <a:lstStyle/>
                    <a:p>
                      <a:pPr algn="l" indent="0" marL="0">
                        <a:buNone/>
                      </a:pPr>
                      <a:r>
                        <a:rPr lang="en-US" sz="1200" dirty="0">
                          <a:solidFill>
                            <a:srgbClr val="1B243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144 341</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1 057 779</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7,3×</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148 241</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10 440 185</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c>
                  <a:txBody>
                    <a:bodyPr/>
                    <a:lstStyle/>
                    <a:p>
                      <a:pPr algn="ctr" indent="0" marL="0">
                        <a:buNone/>
                      </a:pPr>
                      <a:r>
                        <a:rPr lang="en-US" sz="1200" dirty="0">
                          <a:solidFill>
                            <a:srgbClr val="1B2430"/>
                          </a:solidFill>
                          <a:latin typeface="Calibri" pitchFamily="34" charset="0"/>
                          <a:ea typeface="Calibri" pitchFamily="34" charset="-122"/>
                          <a:cs typeface="Calibri" pitchFamily="34" charset="-120"/>
                        </a:rPr>
                        <a:t>70,4×</a:t>
                      </a:r>
                      <a:endParaRPr lang="en-US" sz="12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E6F4EA"/>
                    </a:solidFill>
                  </a:tcPr>
                </a:tc>
              </a:tr>
            </a:tbl>
          </a:graphicData>
        </a:graphic>
      </p:graphicFrame>
      <p:sp>
        <p:nvSpPr>
          <p:cNvPr id="8" name="Text 4"/>
          <p:cNvSpPr/>
          <p:nvPr/>
        </p:nvSpPr>
        <p:spPr>
          <a:xfrm>
            <a:off x="11338560" y="6355080"/>
            <a:ext cx="36576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548640"/>
            <a:ext cx="7315200" cy="548640"/>
          </a:xfrm>
          <a:prstGeom prst="rect">
            <a:avLst/>
          </a:prstGeom>
          <a:noFill/>
          <a:ln/>
        </p:spPr>
        <p:txBody>
          <a:bodyPr wrap="square" lIns="0" tIns="0" rIns="0" bIns="0" rtlCol="0" anchor="ctr"/>
          <a:lstStyle/>
          <a:p>
            <a:pPr indent="0" marL="0">
              <a:buNone/>
            </a:pPr>
            <a:r>
              <a:rPr lang="en-US" sz="3000" b="1" dirty="0">
                <a:solidFill>
                  <a:srgbClr val="FFFFFF"/>
                </a:solidFill>
                <a:latin typeface="Times New Roman" pitchFamily="34" charset="0"/>
                <a:ea typeface="Times New Roman" pitchFamily="34" charset="-122"/>
                <a:cs typeface="Times New Roman" pitchFamily="34" charset="-120"/>
              </a:rPr>
              <a:t>Giới hạn — nói thẳng</a:t>
            </a:r>
            <a:endParaRPr lang="en-US" sz="3000" dirty="0"/>
          </a:p>
        </p:txBody>
      </p:sp>
      <p:sp>
        <p:nvSpPr>
          <p:cNvPr id="3" name="Shape 1"/>
          <p:cNvSpPr/>
          <p:nvPr/>
        </p:nvSpPr>
        <p:spPr>
          <a:xfrm>
            <a:off x="548640" y="1325880"/>
            <a:ext cx="11064240" cy="566928"/>
          </a:xfrm>
          <a:prstGeom prst="roundRect">
            <a:avLst>
              <a:gd name="adj" fmla="val 9677"/>
            </a:avLst>
          </a:prstGeom>
          <a:solidFill>
            <a:srgbClr val="2E3A6E"/>
          </a:solidFill>
          <a:ln w="12700">
            <a:solidFill>
              <a:srgbClr val="2E3A6E"/>
            </a:solidFill>
            <a:prstDash val="solid"/>
          </a:ln>
        </p:spPr>
      </p:sp>
      <p:sp>
        <p:nvSpPr>
          <p:cNvPr id="4" name="Text 2"/>
          <p:cNvSpPr/>
          <p:nvPr/>
        </p:nvSpPr>
        <p:spPr>
          <a:xfrm>
            <a:off x="777240" y="1453896"/>
            <a:ext cx="32918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Nhiều truy vấn / cùng văn bản</a:t>
            </a:r>
            <a:endParaRPr lang="en-US" sz="1300" dirty="0"/>
          </a:p>
        </p:txBody>
      </p:sp>
      <p:sp>
        <p:nvSpPr>
          <p:cNvPr id="5" name="Text 3"/>
          <p:cNvSpPr/>
          <p:nvPr/>
        </p:nvSpPr>
        <p:spPr>
          <a:xfrm>
            <a:off x="4160520" y="1453896"/>
            <a:ext cx="4754880" cy="320040"/>
          </a:xfrm>
          <a:prstGeom prst="rect">
            <a:avLst/>
          </a:prstGeom>
          <a:noFill/>
          <a:ln/>
        </p:spPr>
        <p:txBody>
          <a:bodyPr wrap="square" lIns="0" tIns="0" rIns="0" bIns="0" rtlCol="0" anchor="ctr"/>
          <a:lstStyle/>
          <a:p>
            <a:pPr indent="0" marL="0">
              <a:buNone/>
            </a:pPr>
            <a:r>
              <a:rPr lang="en-US" sz="1200" dirty="0">
                <a:solidFill>
                  <a:srgbClr val="C7D6E8"/>
                </a:solidFill>
                <a:latin typeface="Calibri" pitchFamily="34" charset="0"/>
                <a:ea typeface="Calibri" pitchFamily="34" charset="-122"/>
                <a:cs typeface="Calibri" pitchFamily="34" charset="-120"/>
              </a:rPr>
              <a:t>KMP xử lý MẪU ⇒ mỗi truy vấn vẫn O(n)</a:t>
            </a:r>
            <a:endParaRPr lang="en-US" sz="1200" dirty="0"/>
          </a:p>
        </p:txBody>
      </p:sp>
      <p:sp>
        <p:nvSpPr>
          <p:cNvPr id="6" name="Text 4"/>
          <p:cNvSpPr/>
          <p:nvPr/>
        </p:nvSpPr>
        <p:spPr>
          <a:xfrm>
            <a:off x="9006840" y="1453896"/>
            <a:ext cx="2560320" cy="320040"/>
          </a:xfrm>
          <a:prstGeom prst="rect">
            <a:avLst/>
          </a:prstGeom>
          <a:noFill/>
          <a:ln/>
        </p:spPr>
        <p:txBody>
          <a:bodyPr wrap="square" lIns="0" tIns="0" rIns="0" bIns="0" rtlCol="0" anchor="ctr"/>
          <a:lstStyle/>
          <a:p>
            <a:pPr indent="0" marL="0">
              <a:buNone/>
            </a:pPr>
            <a:r>
              <a:rPr lang="en-US" sz="1200" dirty="0">
                <a:solidFill>
                  <a:srgbClr val="5BC0BE"/>
                </a:solidFill>
                <a:latin typeface="Calibri" pitchFamily="34" charset="0"/>
                <a:ea typeface="Calibri" pitchFamily="34" charset="-122"/>
                <a:cs typeface="Calibri" pitchFamily="34" charset="-120"/>
              </a:rPr>
              <a:t>→ suffix automaton</a:t>
            </a:r>
            <a:endParaRPr lang="en-US" sz="1200" dirty="0"/>
          </a:p>
        </p:txBody>
      </p:sp>
      <p:sp>
        <p:nvSpPr>
          <p:cNvPr id="7" name="Shape 5"/>
          <p:cNvSpPr/>
          <p:nvPr/>
        </p:nvSpPr>
        <p:spPr>
          <a:xfrm>
            <a:off x="548640" y="2039112"/>
            <a:ext cx="11064240" cy="566928"/>
          </a:xfrm>
          <a:prstGeom prst="roundRect">
            <a:avLst>
              <a:gd name="adj" fmla="val 9677"/>
            </a:avLst>
          </a:prstGeom>
          <a:solidFill>
            <a:srgbClr val="2E3A6E"/>
          </a:solidFill>
          <a:ln w="12700">
            <a:solidFill>
              <a:srgbClr val="2E3A6E"/>
            </a:solidFill>
            <a:prstDash val="solid"/>
          </a:ln>
        </p:spPr>
      </p:sp>
      <p:sp>
        <p:nvSpPr>
          <p:cNvPr id="8" name="Text 6"/>
          <p:cNvSpPr/>
          <p:nvPr/>
        </p:nvSpPr>
        <p:spPr>
          <a:xfrm>
            <a:off x="777240" y="2167128"/>
            <a:ext cx="32918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Tìm mờ, lỗi chính tả</a:t>
            </a:r>
            <a:endParaRPr lang="en-US" sz="1300" dirty="0"/>
          </a:p>
        </p:txBody>
      </p:sp>
      <p:sp>
        <p:nvSpPr>
          <p:cNvPr id="9" name="Text 7"/>
          <p:cNvSpPr/>
          <p:nvPr/>
        </p:nvSpPr>
        <p:spPr>
          <a:xfrm>
            <a:off x="4160520" y="2167128"/>
            <a:ext cx="4754880" cy="320040"/>
          </a:xfrm>
          <a:prstGeom prst="rect">
            <a:avLst/>
          </a:prstGeom>
          <a:noFill/>
          <a:ln/>
        </p:spPr>
        <p:txBody>
          <a:bodyPr wrap="square" lIns="0" tIns="0" rIns="0" bIns="0" rtlCol="0" anchor="ctr"/>
          <a:lstStyle/>
          <a:p>
            <a:pPr indent="0" marL="0">
              <a:buNone/>
            </a:pPr>
            <a:r>
              <a:rPr lang="en-US" sz="1200" dirty="0">
                <a:solidFill>
                  <a:srgbClr val="C7D6E8"/>
                </a:solidFill>
                <a:latin typeface="Calibri" pitchFamily="34" charset="0"/>
                <a:ea typeface="Calibri" pitchFamily="34" charset="-122"/>
                <a:cs typeface="Calibri" pitchFamily="34" charset="-120"/>
              </a:rPr>
              <a:t>Trie chỉ khớp tiền tố CHÍNH XÁC</a:t>
            </a:r>
            <a:endParaRPr lang="en-US" sz="1200" dirty="0"/>
          </a:p>
        </p:txBody>
      </p:sp>
      <p:sp>
        <p:nvSpPr>
          <p:cNvPr id="10" name="Text 8"/>
          <p:cNvSpPr/>
          <p:nvPr/>
        </p:nvSpPr>
        <p:spPr>
          <a:xfrm>
            <a:off x="9006840" y="2167128"/>
            <a:ext cx="2560320" cy="320040"/>
          </a:xfrm>
          <a:prstGeom prst="rect">
            <a:avLst/>
          </a:prstGeom>
          <a:noFill/>
          <a:ln/>
        </p:spPr>
        <p:txBody>
          <a:bodyPr wrap="square" lIns="0" tIns="0" rIns="0" bIns="0" rtlCol="0" anchor="ctr"/>
          <a:lstStyle/>
          <a:p>
            <a:pPr indent="0" marL="0">
              <a:buNone/>
            </a:pPr>
            <a:r>
              <a:rPr lang="en-US" sz="1200" dirty="0">
                <a:solidFill>
                  <a:srgbClr val="5BC0BE"/>
                </a:solidFill>
                <a:latin typeface="Calibri" pitchFamily="34" charset="0"/>
                <a:ea typeface="Calibri" pitchFamily="34" charset="-122"/>
                <a:cs typeface="Calibri" pitchFamily="34" charset="-120"/>
              </a:rPr>
              <a:t>→ Trie + Levenshtein</a:t>
            </a:r>
            <a:endParaRPr lang="en-US" sz="1200" dirty="0"/>
          </a:p>
        </p:txBody>
      </p:sp>
      <p:sp>
        <p:nvSpPr>
          <p:cNvPr id="11" name="Shape 9"/>
          <p:cNvSpPr/>
          <p:nvPr/>
        </p:nvSpPr>
        <p:spPr>
          <a:xfrm>
            <a:off x="548640" y="2752344"/>
            <a:ext cx="11064240" cy="566928"/>
          </a:xfrm>
          <a:prstGeom prst="roundRect">
            <a:avLst>
              <a:gd name="adj" fmla="val 9677"/>
            </a:avLst>
          </a:prstGeom>
          <a:solidFill>
            <a:srgbClr val="2E3A6E"/>
          </a:solidFill>
          <a:ln w="12700">
            <a:solidFill>
              <a:srgbClr val="2E3A6E"/>
            </a:solidFill>
            <a:prstDash val="solid"/>
          </a:ln>
        </p:spPr>
      </p:sp>
      <p:sp>
        <p:nvSpPr>
          <p:cNvPr id="12" name="Text 10"/>
          <p:cNvSpPr/>
          <p:nvPr/>
        </p:nvSpPr>
        <p:spPr>
          <a:xfrm>
            <a:off x="777240" y="2880360"/>
            <a:ext cx="32918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Xếp hạng theo tần suất</a:t>
            </a:r>
            <a:endParaRPr lang="en-US" sz="1300" dirty="0"/>
          </a:p>
        </p:txBody>
      </p:sp>
      <p:sp>
        <p:nvSpPr>
          <p:cNvPr id="13" name="Text 11"/>
          <p:cNvSpPr/>
          <p:nvPr/>
        </p:nvSpPr>
        <p:spPr>
          <a:xfrm>
            <a:off x="4160520" y="2880360"/>
            <a:ext cx="4754880" cy="320040"/>
          </a:xfrm>
          <a:prstGeom prst="rect">
            <a:avLst/>
          </a:prstGeom>
          <a:noFill/>
          <a:ln/>
        </p:spPr>
        <p:txBody>
          <a:bodyPr wrap="square" lIns="0" tIns="0" rIns="0" bIns="0" rtlCol="0" anchor="ctr"/>
          <a:lstStyle/>
          <a:p>
            <a:pPr indent="0" marL="0">
              <a:buNone/>
            </a:pPr>
            <a:r>
              <a:rPr lang="en-US" sz="1200" dirty="0">
                <a:solidFill>
                  <a:srgbClr val="C7D6E8"/>
                </a:solidFill>
                <a:latin typeface="Calibri" pitchFamily="34" charset="0"/>
                <a:ea typeface="Calibri" pitchFamily="34" charset="-122"/>
                <a:cs typeface="Calibri" pitchFamily="34" charset="-120"/>
              </a:rPr>
              <a:t>phải xem hết cây con ⇒ MẤT early stop</a:t>
            </a:r>
            <a:endParaRPr lang="en-US" sz="1200" dirty="0"/>
          </a:p>
        </p:txBody>
      </p:sp>
      <p:sp>
        <p:nvSpPr>
          <p:cNvPr id="14" name="Text 12"/>
          <p:cNvSpPr/>
          <p:nvPr/>
        </p:nvSpPr>
        <p:spPr>
          <a:xfrm>
            <a:off x="9006840" y="2880360"/>
            <a:ext cx="2560320" cy="320040"/>
          </a:xfrm>
          <a:prstGeom prst="rect">
            <a:avLst/>
          </a:prstGeom>
          <a:noFill/>
          <a:ln/>
        </p:spPr>
        <p:txBody>
          <a:bodyPr wrap="square" lIns="0" tIns="0" rIns="0" bIns="0" rtlCol="0" anchor="ctr"/>
          <a:lstStyle/>
          <a:p>
            <a:pPr indent="0" marL="0">
              <a:buNone/>
            </a:pPr>
            <a:r>
              <a:rPr lang="en-US" sz="1200" dirty="0">
                <a:solidFill>
                  <a:srgbClr val="5BC0BE"/>
                </a:solidFill>
                <a:latin typeface="Calibri" pitchFamily="34" charset="0"/>
                <a:ea typeface="Calibri" pitchFamily="34" charset="-122"/>
                <a:cs typeface="Calibri" pitchFamily="34" charset="-120"/>
              </a:rPr>
              <a:t>→ lưu sẵn top-k mỗi nút</a:t>
            </a:r>
            <a:endParaRPr lang="en-US" sz="1200" dirty="0"/>
          </a:p>
        </p:txBody>
      </p:sp>
      <p:sp>
        <p:nvSpPr>
          <p:cNvPr id="15" name="Text 13"/>
          <p:cNvSpPr/>
          <p:nvPr/>
        </p:nvSpPr>
        <p:spPr>
          <a:xfrm>
            <a:off x="548640" y="3611880"/>
            <a:ext cx="10972800" cy="365760"/>
          </a:xfrm>
          <a:prstGeom prst="rect">
            <a:avLst/>
          </a:prstGeom>
          <a:noFill/>
          <a:ln/>
        </p:spPr>
        <p:txBody>
          <a:bodyPr wrap="square" lIns="0" tIns="0" rIns="0" bIns="0" rtlCol="0" anchor="ctr"/>
          <a:lstStyle/>
          <a:p>
            <a:pPr indent="0" marL="0">
              <a:buNone/>
            </a:pPr>
            <a:r>
              <a:rPr lang="en-US" sz="1300" i="1" dirty="0">
                <a:solidFill>
                  <a:srgbClr val="E8A33D"/>
                </a:solidFill>
                <a:latin typeface="Calibri" pitchFamily="34" charset="0"/>
                <a:ea typeface="Calibri" pitchFamily="34" charset="-122"/>
                <a:cs typeface="Calibri" pitchFamily="34" charset="-120"/>
              </a:rPr>
              <a:t>KHÔNG khẳng định KMP nhanh hơn str.find — hàm đó viết bằng C, nhanh hơn hàng chục lần.</a:t>
            </a:r>
            <a:endParaRPr lang="en-US" sz="1300" dirty="0"/>
          </a:p>
        </p:txBody>
      </p:sp>
      <p:sp>
        <p:nvSpPr>
          <p:cNvPr id="16" name="Text 14"/>
          <p:cNvSpPr/>
          <p:nvPr/>
        </p:nvSpPr>
        <p:spPr>
          <a:xfrm>
            <a:off x="548640" y="3950208"/>
            <a:ext cx="10972800" cy="365760"/>
          </a:xfrm>
          <a:prstGeom prst="rect">
            <a:avLst/>
          </a:prstGeom>
          <a:noFill/>
          <a:ln/>
        </p:spPr>
        <p:txBody>
          <a:bodyPr wrap="square" lIns="0" tIns="0" rIns="0" bIns="0" rtlCol="0" anchor="ctr"/>
          <a:lstStyle/>
          <a:p>
            <a:pPr indent="0" marL="0">
              <a:buNone/>
            </a:pPr>
            <a:r>
              <a:rPr lang="en-US" sz="1300" dirty="0">
                <a:solidFill>
                  <a:srgbClr val="C7D6E8"/>
                </a:solidFill>
                <a:latin typeface="Calibri" pitchFamily="34" charset="0"/>
                <a:ea typeface="Calibri" pitchFamily="34" charset="-122"/>
                <a:cs typeface="Calibri" pitchFamily="34" charset="-120"/>
              </a:rPr>
              <a:t>Giá trị của module A: mọi vị trí kể cả overlapping, với chặn 2n CHỨNG MINH ĐƯỢC — và là nền cho Aho–Corasick.</a:t>
            </a:r>
            <a:endParaRPr lang="en-US" sz="1300" dirty="0"/>
          </a:p>
        </p:txBody>
      </p:sp>
      <p:sp>
        <p:nvSpPr>
          <p:cNvPr id="17" name="Shape 15"/>
          <p:cNvSpPr/>
          <p:nvPr/>
        </p:nvSpPr>
        <p:spPr>
          <a:xfrm>
            <a:off x="548640" y="4526280"/>
            <a:ext cx="11064240" cy="1234440"/>
          </a:xfrm>
          <a:prstGeom prst="roundRect">
            <a:avLst>
              <a:gd name="adj" fmla="val 5926"/>
            </a:avLst>
          </a:prstGeom>
          <a:solidFill>
            <a:srgbClr val="2E3A6E"/>
          </a:solidFill>
          <a:ln w="12700">
            <a:solidFill>
              <a:srgbClr val="2E3A6E"/>
            </a:solidFill>
            <a:prstDash val="solid"/>
          </a:ln>
        </p:spPr>
      </p:sp>
      <p:sp>
        <p:nvSpPr>
          <p:cNvPr id="18" name="Text 16"/>
          <p:cNvSpPr/>
          <p:nvPr/>
        </p:nvSpPr>
        <p:spPr>
          <a:xfrm>
            <a:off x="914400" y="4709160"/>
            <a:ext cx="1645920" cy="685800"/>
          </a:xfrm>
          <a:prstGeom prst="rect">
            <a:avLst/>
          </a:prstGeom>
          <a:noFill/>
          <a:ln/>
        </p:spPr>
        <p:txBody>
          <a:bodyPr wrap="square" lIns="0" tIns="0" rIns="0" bIns="0" rtlCol="0" anchor="ctr"/>
          <a:lstStyle/>
          <a:p>
            <a:pPr indent="0" marL="0">
              <a:buNone/>
            </a:pPr>
            <a:r>
              <a:rPr lang="en-US" sz="3400" b="1" dirty="0">
                <a:solidFill>
                  <a:srgbClr val="5BC0BE"/>
                </a:solidFill>
                <a:latin typeface="Times New Roman" pitchFamily="34" charset="0"/>
                <a:ea typeface="Times New Roman" pitchFamily="34" charset="-122"/>
                <a:cs typeface="Times New Roman" pitchFamily="34" charset="-120"/>
              </a:rPr>
              <a:t>8 / 9</a:t>
            </a:r>
            <a:endParaRPr lang="en-US" sz="3400" dirty="0"/>
          </a:p>
        </p:txBody>
      </p:sp>
      <p:sp>
        <p:nvSpPr>
          <p:cNvPr id="19" name="Text 17"/>
          <p:cNvSpPr/>
          <p:nvPr/>
        </p:nvSpPr>
        <p:spPr>
          <a:xfrm>
            <a:off x="2651760" y="4754880"/>
            <a:ext cx="86868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khẳng định lý thuyết được số liệu xác nhận đầy đủ.</a:t>
            </a:r>
            <a:endParaRPr lang="en-US" sz="1500" dirty="0"/>
          </a:p>
        </p:txBody>
      </p:sp>
      <p:sp>
        <p:nvSpPr>
          <p:cNvPr id="20" name="Text 18"/>
          <p:cNvSpPr/>
          <p:nvPr/>
        </p:nvSpPr>
        <p:spPr>
          <a:xfrm>
            <a:off x="2651760" y="5074920"/>
            <a:ext cx="8961120" cy="594360"/>
          </a:xfrm>
          <a:prstGeom prst="rect">
            <a:avLst/>
          </a:prstGeom>
          <a:noFill/>
          <a:ln/>
        </p:spPr>
        <p:txBody>
          <a:bodyPr wrap="square" lIns="0" tIns="0" rIns="0" bIns="0" rtlCol="0" anchor="ctr"/>
          <a:lstStyle/>
          <a:p>
            <a:pPr indent="0" marL="0">
              <a:buNone/>
            </a:pPr>
            <a:r>
              <a:rPr lang="en-US" sz="1200" dirty="0">
                <a:solidFill>
                  <a:srgbClr val="C7D6E8"/>
                </a:solidFill>
                <a:latin typeface="Calibri" pitchFamily="34" charset="0"/>
                <a:ea typeface="Calibri" pitchFamily="34" charset="-122"/>
                <a:cs typeface="Calibri" pitchFamily="34" charset="-120"/>
              </a:rPr>
              <a:t>Khẳng định thứ 9 (mảng tốn bộ nhớ hơn hash map) đúng HƯỚNG nhưng chỉ 1,50–1,53× ở |Σ′| = 26 — do chi tiết cài đặt CPython. Em giữ nguyên kết quả này kèm phân tích thay vì lược bỏ.</a:t>
            </a:r>
            <a:endParaRPr lang="en-US" sz="1200" dirty="0"/>
          </a:p>
        </p:txBody>
      </p:sp>
      <p:sp>
        <p:nvSpPr>
          <p:cNvPr id="21" name="Text 19"/>
          <p:cNvSpPr/>
          <p:nvPr/>
        </p:nvSpPr>
        <p:spPr>
          <a:xfrm>
            <a:off x="548640" y="5989320"/>
            <a:ext cx="7315200" cy="365760"/>
          </a:xfrm>
          <a:prstGeom prst="rect">
            <a:avLst/>
          </a:prstGeom>
          <a:noFill/>
          <a:ln/>
        </p:spPr>
        <p:txBody>
          <a:bodyPr wrap="square" lIns="0" tIns="0" rIns="0" bIns="0" rtlCol="0" anchor="ctr"/>
          <a:lstStyle/>
          <a:p>
            <a:pPr indent="0" marL="0">
              <a:buNone/>
            </a:pPr>
            <a:r>
              <a:rPr lang="en-US" sz="1500" i="1" dirty="0">
                <a:solidFill>
                  <a:srgbClr val="5BC0BE"/>
                </a:solidFill>
                <a:latin typeface="Calibri" pitchFamily="34" charset="0"/>
                <a:ea typeface="Calibri" pitchFamily="34" charset="-122"/>
                <a:cs typeface="Calibri" pitchFamily="34" charset="-120"/>
              </a:rPr>
              <a:t>Xin cảm ơn thầy và các bạn đã lắng nghe.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Chuyên đề 10 — KMP và Trie</dc:title>
  <dc:subject>PptxGenJS Presentation</dc:subject>
  <dc:creator>Huỳnh Phát Lợi</dc:creator>
  <cp:lastModifiedBy>Huỳnh Phát Lợi</cp:lastModifiedBy>
  <cp:revision>1</cp:revision>
  <dcterms:created xsi:type="dcterms:W3CDTF">2026-07-28T10:18:43Z</dcterms:created>
  <dcterms:modified xsi:type="dcterms:W3CDTF">2026-07-28T10:18:43Z</dcterms:modified>
</cp:coreProperties>
</file>